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1" r:id="rId4"/>
    <p:sldId id="260" r:id="rId5"/>
    <p:sldId id="262" r:id="rId6"/>
    <p:sldId id="263" r:id="rId7"/>
    <p:sldId id="266" r:id="rId8"/>
    <p:sldId id="267" r:id="rId9"/>
    <p:sldId id="268" r:id="rId10"/>
    <p:sldId id="269" r:id="rId11"/>
    <p:sldId id="270" r:id="rId12"/>
    <p:sldId id="271" r:id="rId13"/>
    <p:sldId id="258" r:id="rId14"/>
    <p:sldId id="25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B294"/>
    <a:srgbClr val="057055"/>
    <a:srgbClr val="1C5A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DB56F3-2EB7-42CA-A67F-AEEECFD4C15C}" type="datetimeFigureOut">
              <a:rPr lang="en-US" smtClean="0"/>
              <a:t>4/27/2025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D23231-A5AE-4C27-959D-269F15A03FBB}" type="slidenum">
              <a:rPr lang="en-US" smtClean="0"/>
              <a:t>‹#›</a:t>
            </a:fld>
            <a:endParaRPr lang="en-US"/>
          </a:p>
        </p:txBody>
      </p:sp>
    </p:spTree>
    <p:extLst>
      <p:ext uri="{BB962C8B-B14F-4D97-AF65-F5344CB8AC3E}">
        <p14:creationId xmlns:p14="http://schemas.microsoft.com/office/powerpoint/2010/main" val="889107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0A40A-18BE-EC70-FF85-3C012511FA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1032B9-D342-674E-4CBF-3317392397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0F3253-F6C8-D729-65DC-4E78DCEC6B7E}"/>
              </a:ext>
            </a:extLst>
          </p:cNvPr>
          <p:cNvSpPr>
            <a:spLocks noGrp="1"/>
          </p:cNvSpPr>
          <p:nvPr>
            <p:ph type="dt" sz="half" idx="10"/>
          </p:nvPr>
        </p:nvSpPr>
        <p:spPr/>
        <p:txBody>
          <a:bodyPr/>
          <a:lstStyle/>
          <a:p>
            <a:fld id="{102ECA0B-80C2-4729-A1E9-1628455A2276}" type="datetime1">
              <a:rPr lang="en-US" smtClean="0"/>
              <a:t>4/27/2025</a:t>
            </a:fld>
            <a:endParaRPr lang="en-US"/>
          </a:p>
        </p:txBody>
      </p:sp>
      <p:sp>
        <p:nvSpPr>
          <p:cNvPr id="5" name="Footer Placeholder 4">
            <a:extLst>
              <a:ext uri="{FF2B5EF4-FFF2-40B4-BE49-F238E27FC236}">
                <a16:creationId xmlns:a16="http://schemas.microsoft.com/office/drawing/2014/main" id="{7A41651D-57B6-3673-C8FA-C42C836B2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0B54F-8BB7-A975-0EDB-A6CAEFD291F5}"/>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407520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130CC-9FB5-5A97-D827-0B13BB7F12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7DAE9C-33A9-1B52-30CD-9EE49A8BF4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71C0E-7F05-CF4F-8D78-8016CC259618}"/>
              </a:ext>
            </a:extLst>
          </p:cNvPr>
          <p:cNvSpPr>
            <a:spLocks noGrp="1"/>
          </p:cNvSpPr>
          <p:nvPr>
            <p:ph type="dt" sz="half" idx="10"/>
          </p:nvPr>
        </p:nvSpPr>
        <p:spPr/>
        <p:txBody>
          <a:bodyPr/>
          <a:lstStyle/>
          <a:p>
            <a:fld id="{3008CF75-1C23-45D5-A957-CD99FAD5E6E8}" type="datetime1">
              <a:rPr lang="en-US" smtClean="0"/>
              <a:t>4/27/2025</a:t>
            </a:fld>
            <a:endParaRPr lang="en-US"/>
          </a:p>
        </p:txBody>
      </p:sp>
      <p:sp>
        <p:nvSpPr>
          <p:cNvPr id="5" name="Footer Placeholder 4">
            <a:extLst>
              <a:ext uri="{FF2B5EF4-FFF2-40B4-BE49-F238E27FC236}">
                <a16:creationId xmlns:a16="http://schemas.microsoft.com/office/drawing/2014/main" id="{32281B05-CDEA-E249-0394-C2D7541E7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9694E4-AD59-F737-4005-636EC3091559}"/>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2590182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A3609-4076-666B-A2B7-ACC645B1F7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A4B81B-785D-7EB4-FC9C-A50E25E33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DF21C2-E107-A918-DE44-EB3125764C82}"/>
              </a:ext>
            </a:extLst>
          </p:cNvPr>
          <p:cNvSpPr>
            <a:spLocks noGrp="1"/>
          </p:cNvSpPr>
          <p:nvPr>
            <p:ph type="dt" sz="half" idx="10"/>
          </p:nvPr>
        </p:nvSpPr>
        <p:spPr/>
        <p:txBody>
          <a:bodyPr/>
          <a:lstStyle/>
          <a:p>
            <a:fld id="{D51EC631-C209-434D-AEDC-93398199AAD6}" type="datetime1">
              <a:rPr lang="en-US" smtClean="0"/>
              <a:t>4/27/2025</a:t>
            </a:fld>
            <a:endParaRPr lang="en-US"/>
          </a:p>
        </p:txBody>
      </p:sp>
      <p:sp>
        <p:nvSpPr>
          <p:cNvPr id="5" name="Footer Placeholder 4">
            <a:extLst>
              <a:ext uri="{FF2B5EF4-FFF2-40B4-BE49-F238E27FC236}">
                <a16:creationId xmlns:a16="http://schemas.microsoft.com/office/drawing/2014/main" id="{3BE3B47C-FC11-5667-AAF7-3458D0BB4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2DD0BF-B616-CFCD-A238-600A14934F04}"/>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3448571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2B976-9180-711D-A3F8-78208254A7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41ECA6-1C2B-1D03-5E80-86A5673D42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5C2A9C-57AA-A90F-0A8E-AE8923D67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3D0EBB-8D4E-6BAA-97D4-FBA05ADFEDDA}"/>
              </a:ext>
            </a:extLst>
          </p:cNvPr>
          <p:cNvSpPr>
            <a:spLocks noGrp="1"/>
          </p:cNvSpPr>
          <p:nvPr>
            <p:ph type="dt" sz="half" idx="10"/>
          </p:nvPr>
        </p:nvSpPr>
        <p:spPr/>
        <p:txBody>
          <a:bodyPr/>
          <a:lstStyle/>
          <a:p>
            <a:fld id="{3800729C-2D52-45D5-891B-8B79DC9627F5}" type="datetime1">
              <a:rPr lang="en-US" smtClean="0"/>
              <a:t>4/27/2025</a:t>
            </a:fld>
            <a:endParaRPr lang="en-US"/>
          </a:p>
        </p:txBody>
      </p:sp>
      <p:sp>
        <p:nvSpPr>
          <p:cNvPr id="6" name="Footer Placeholder 5">
            <a:extLst>
              <a:ext uri="{FF2B5EF4-FFF2-40B4-BE49-F238E27FC236}">
                <a16:creationId xmlns:a16="http://schemas.microsoft.com/office/drawing/2014/main" id="{40637A5C-EF74-24D2-5E62-F284974F21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4B933-BD9B-B1DD-C12E-15A84306AA0E}"/>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65130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8509-78F3-7B64-8D70-E56689853E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93F6288-0CA5-EFB1-B83E-76C9E9E6F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0DDA1B-C901-1B36-6CE4-939818BC26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689B9A-3DA7-F7B2-2A80-418694B83D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E62ACE-71BD-3184-BA44-C3DDC0F039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E713B4-A650-1F1D-ED03-1B95B5B3EA57}"/>
              </a:ext>
            </a:extLst>
          </p:cNvPr>
          <p:cNvSpPr>
            <a:spLocks noGrp="1"/>
          </p:cNvSpPr>
          <p:nvPr>
            <p:ph type="dt" sz="half" idx="10"/>
          </p:nvPr>
        </p:nvSpPr>
        <p:spPr/>
        <p:txBody>
          <a:bodyPr/>
          <a:lstStyle/>
          <a:p>
            <a:fld id="{5983EB81-3726-4CAC-9B01-D138C3E0F677}" type="datetime1">
              <a:rPr lang="en-US" smtClean="0"/>
              <a:t>4/27/2025</a:t>
            </a:fld>
            <a:endParaRPr lang="en-US"/>
          </a:p>
        </p:txBody>
      </p:sp>
      <p:sp>
        <p:nvSpPr>
          <p:cNvPr id="8" name="Footer Placeholder 7">
            <a:extLst>
              <a:ext uri="{FF2B5EF4-FFF2-40B4-BE49-F238E27FC236}">
                <a16:creationId xmlns:a16="http://schemas.microsoft.com/office/drawing/2014/main" id="{49DB4F13-5FCF-9755-5F95-5E6194DFBE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B705A7-E3BE-905E-045A-4F1DF2CCC1C3}"/>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343630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864DF-3F14-CA0D-8C39-11F8567DF0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CAE435-8094-EA05-C0CB-F7AFC41968C1}"/>
              </a:ext>
            </a:extLst>
          </p:cNvPr>
          <p:cNvSpPr>
            <a:spLocks noGrp="1"/>
          </p:cNvSpPr>
          <p:nvPr>
            <p:ph type="dt" sz="half" idx="10"/>
          </p:nvPr>
        </p:nvSpPr>
        <p:spPr/>
        <p:txBody>
          <a:bodyPr/>
          <a:lstStyle/>
          <a:p>
            <a:fld id="{AD6E5627-F0E8-4FBE-8F59-41206DDE374A}" type="datetime1">
              <a:rPr lang="en-US" smtClean="0"/>
              <a:t>4/27/2025</a:t>
            </a:fld>
            <a:endParaRPr lang="en-US"/>
          </a:p>
        </p:txBody>
      </p:sp>
      <p:sp>
        <p:nvSpPr>
          <p:cNvPr id="4" name="Footer Placeholder 3">
            <a:extLst>
              <a:ext uri="{FF2B5EF4-FFF2-40B4-BE49-F238E27FC236}">
                <a16:creationId xmlns:a16="http://schemas.microsoft.com/office/drawing/2014/main" id="{44BD7AC5-05CB-31D5-FC18-C9A40503361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866BEE-EE26-DF59-D51C-3E9B26195CBB}"/>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139705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AE498-FDE0-FFF6-B104-5D2A8F8604A2}"/>
              </a:ext>
            </a:extLst>
          </p:cNvPr>
          <p:cNvSpPr>
            <a:spLocks noGrp="1"/>
          </p:cNvSpPr>
          <p:nvPr>
            <p:ph type="dt" sz="half" idx="10"/>
          </p:nvPr>
        </p:nvSpPr>
        <p:spPr/>
        <p:txBody>
          <a:bodyPr/>
          <a:lstStyle/>
          <a:p>
            <a:fld id="{C935E7B1-9830-4880-9BBE-43DA04A9ECD6}" type="datetime1">
              <a:rPr lang="en-US" smtClean="0"/>
              <a:t>4/27/2025</a:t>
            </a:fld>
            <a:endParaRPr lang="en-US"/>
          </a:p>
        </p:txBody>
      </p:sp>
      <p:sp>
        <p:nvSpPr>
          <p:cNvPr id="3" name="Footer Placeholder 2">
            <a:extLst>
              <a:ext uri="{FF2B5EF4-FFF2-40B4-BE49-F238E27FC236}">
                <a16:creationId xmlns:a16="http://schemas.microsoft.com/office/drawing/2014/main" id="{533E15D6-145E-4C3B-CA1E-AF89143075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822561-FEF3-252B-D07A-D49B9D1CE550}"/>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1285083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5511-0F08-CFFF-7586-A60D79268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60C472-4676-FE72-E8D9-7B8F468DBC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EEC61D-B66B-12DC-8D4B-417641E4ED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1D31B4-4170-37E9-E0E4-5F0C8C007248}"/>
              </a:ext>
            </a:extLst>
          </p:cNvPr>
          <p:cNvSpPr>
            <a:spLocks noGrp="1"/>
          </p:cNvSpPr>
          <p:nvPr>
            <p:ph type="dt" sz="half" idx="10"/>
          </p:nvPr>
        </p:nvSpPr>
        <p:spPr/>
        <p:txBody>
          <a:bodyPr/>
          <a:lstStyle/>
          <a:p>
            <a:fld id="{27096480-71E1-45D1-B002-9B76B90D5BAE}" type="datetime1">
              <a:rPr lang="en-US" smtClean="0"/>
              <a:t>4/27/2025</a:t>
            </a:fld>
            <a:endParaRPr lang="en-US"/>
          </a:p>
        </p:txBody>
      </p:sp>
      <p:sp>
        <p:nvSpPr>
          <p:cNvPr id="6" name="Footer Placeholder 5">
            <a:extLst>
              <a:ext uri="{FF2B5EF4-FFF2-40B4-BE49-F238E27FC236}">
                <a16:creationId xmlns:a16="http://schemas.microsoft.com/office/drawing/2014/main" id="{D7926B27-AF6B-73C1-3A97-F81CA1F78C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BDDBCF-3BFC-A987-4104-7D1ECAF32046}"/>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241036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F9472-A7E1-3270-7B60-F28B753C6C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C98294-9715-C3C4-5CF0-B73D2CD0DE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F62A0F-0BAA-0C96-F1DC-BD7262C31F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D1F885-2C2C-BCBB-A837-7860047B193E}"/>
              </a:ext>
            </a:extLst>
          </p:cNvPr>
          <p:cNvSpPr>
            <a:spLocks noGrp="1"/>
          </p:cNvSpPr>
          <p:nvPr>
            <p:ph type="dt" sz="half" idx="10"/>
          </p:nvPr>
        </p:nvSpPr>
        <p:spPr/>
        <p:txBody>
          <a:bodyPr/>
          <a:lstStyle/>
          <a:p>
            <a:fld id="{E0A66FCD-7546-41D5-AE3E-AA93453799F8}" type="datetime1">
              <a:rPr lang="en-US" smtClean="0"/>
              <a:t>4/27/2025</a:t>
            </a:fld>
            <a:endParaRPr lang="en-US"/>
          </a:p>
        </p:txBody>
      </p:sp>
      <p:sp>
        <p:nvSpPr>
          <p:cNvPr id="6" name="Footer Placeholder 5">
            <a:extLst>
              <a:ext uri="{FF2B5EF4-FFF2-40B4-BE49-F238E27FC236}">
                <a16:creationId xmlns:a16="http://schemas.microsoft.com/office/drawing/2014/main" id="{0AC4683E-58BF-94EE-AB66-DF10A7518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145274-9604-079D-7CAC-B15377C2D2A7}"/>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2964252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44177-1EF0-3977-3E4C-00F61AE4D3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C6E957-906F-D0A4-2F17-37BBBD5C29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48F918-C6D3-4192-2D6E-4CBC64A3783C}"/>
              </a:ext>
            </a:extLst>
          </p:cNvPr>
          <p:cNvSpPr>
            <a:spLocks noGrp="1"/>
          </p:cNvSpPr>
          <p:nvPr>
            <p:ph type="dt" sz="half" idx="10"/>
          </p:nvPr>
        </p:nvSpPr>
        <p:spPr/>
        <p:txBody>
          <a:bodyPr/>
          <a:lstStyle/>
          <a:p>
            <a:fld id="{EE857837-66C4-421C-98A4-047C98CAD896}" type="datetime1">
              <a:rPr lang="en-US" smtClean="0"/>
              <a:t>4/27/2025</a:t>
            </a:fld>
            <a:endParaRPr lang="en-US"/>
          </a:p>
        </p:txBody>
      </p:sp>
      <p:sp>
        <p:nvSpPr>
          <p:cNvPr id="5" name="Footer Placeholder 4">
            <a:extLst>
              <a:ext uri="{FF2B5EF4-FFF2-40B4-BE49-F238E27FC236}">
                <a16:creationId xmlns:a16="http://schemas.microsoft.com/office/drawing/2014/main" id="{702CEF28-7DDC-CF3D-4B24-3F924DBEA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CAE8F-DDBB-549B-8C56-9EBD396BF714}"/>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1538502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08D4E4-9C93-562D-3E9F-0B31747ED8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FFF32C-79E6-B943-4801-CEEDC3AD63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399285-AB2F-A063-3B1E-7E22CA4901B6}"/>
              </a:ext>
            </a:extLst>
          </p:cNvPr>
          <p:cNvSpPr>
            <a:spLocks noGrp="1"/>
          </p:cNvSpPr>
          <p:nvPr>
            <p:ph type="dt" sz="half" idx="10"/>
          </p:nvPr>
        </p:nvSpPr>
        <p:spPr/>
        <p:txBody>
          <a:bodyPr/>
          <a:lstStyle/>
          <a:p>
            <a:fld id="{F16CDC4D-88FB-46D8-B70E-83ACF09AA0FE}" type="datetime1">
              <a:rPr lang="en-US" smtClean="0"/>
              <a:t>4/27/2025</a:t>
            </a:fld>
            <a:endParaRPr lang="en-US"/>
          </a:p>
        </p:txBody>
      </p:sp>
      <p:sp>
        <p:nvSpPr>
          <p:cNvPr id="5" name="Footer Placeholder 4">
            <a:extLst>
              <a:ext uri="{FF2B5EF4-FFF2-40B4-BE49-F238E27FC236}">
                <a16:creationId xmlns:a16="http://schemas.microsoft.com/office/drawing/2014/main" id="{E6CDF3E3-D0EC-C279-3382-2EE81CDDE8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518FA2-575E-4BC8-1215-117AD6F5E825}"/>
              </a:ext>
            </a:extLst>
          </p:cNvPr>
          <p:cNvSpPr>
            <a:spLocks noGrp="1"/>
          </p:cNvSpPr>
          <p:nvPr>
            <p:ph type="sldNum" sz="quarter" idx="12"/>
          </p:nvPr>
        </p:nvSpPr>
        <p:spPr/>
        <p:txBody>
          <a:bodyPr/>
          <a:lstStyle/>
          <a:p>
            <a:fld id="{60A8E374-2977-4823-8073-360F0642C6DD}" type="slidenum">
              <a:rPr lang="en-US" smtClean="0"/>
              <a:t>‹#›</a:t>
            </a:fld>
            <a:endParaRPr lang="en-US"/>
          </a:p>
        </p:txBody>
      </p:sp>
    </p:spTree>
    <p:extLst>
      <p:ext uri="{BB962C8B-B14F-4D97-AF65-F5344CB8AC3E}">
        <p14:creationId xmlns:p14="http://schemas.microsoft.com/office/powerpoint/2010/main" val="1953969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D5328E-37FC-0EA5-E90E-C4E5C332BE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D54018-118D-194F-FDFA-AD0CF1594B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71A47-86FE-C807-AA9B-D67726BE30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B817E3-82FE-4CB3-AB75-CCC0BF231CD4}" type="datetime1">
              <a:rPr lang="en-US" smtClean="0"/>
              <a:t>4/27/2025</a:t>
            </a:fld>
            <a:endParaRPr lang="en-US"/>
          </a:p>
        </p:txBody>
      </p:sp>
      <p:sp>
        <p:nvSpPr>
          <p:cNvPr id="5" name="Footer Placeholder 4">
            <a:extLst>
              <a:ext uri="{FF2B5EF4-FFF2-40B4-BE49-F238E27FC236}">
                <a16:creationId xmlns:a16="http://schemas.microsoft.com/office/drawing/2014/main" id="{33857F6D-CB87-0D1C-0866-C530D6ED45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AF7734-5382-F955-9C0C-22750541F4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A8E374-2977-4823-8073-360F0642C6DD}" type="slidenum">
              <a:rPr lang="en-US" smtClean="0"/>
              <a:t>‹#›</a:t>
            </a:fld>
            <a:endParaRPr lang="en-US"/>
          </a:p>
        </p:txBody>
      </p:sp>
    </p:spTree>
    <p:extLst>
      <p:ext uri="{BB962C8B-B14F-4D97-AF65-F5344CB8AC3E}">
        <p14:creationId xmlns:p14="http://schemas.microsoft.com/office/powerpoint/2010/main" val="3074145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hyperlink" Target="mailto:mazen110.net@gmai.com" TargetMode="External"/><Relationship Id="rId5" Type="http://schemas.openxmlformats.org/officeDocument/2006/relationships/image" Target="../media/image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47E25D7-FA89-4343-CEEA-2ED025D5C163}"/>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885F7C5-6DCD-BABE-AE99-95432BC65696}"/>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B177BE0D-FA8D-DB70-D0F0-3FE1EF8FDD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537ED2B-B3AF-AD1F-D83A-ABD4F190F0A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53A30728-9939-02BB-3011-82609452EAE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2F238AE6-C474-A302-5C2B-8D7A180AAD01}"/>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9F8B183E-2DF8-A483-2AD3-9BA8E7F80C3B}"/>
              </a:ext>
            </a:extLst>
          </p:cNvPr>
          <p:cNvSpPr>
            <a:spLocks noGrp="1"/>
          </p:cNvSpPr>
          <p:nvPr>
            <p:ph type="sldNum" sz="quarter" idx="12"/>
          </p:nvPr>
        </p:nvSpPr>
        <p:spPr/>
        <p:txBody>
          <a:bodyPr/>
          <a:lstStyle/>
          <a:p>
            <a:fld id="{60A8E374-2977-4823-8073-360F0642C6DD}" type="slidenum">
              <a:rPr lang="en-US" smtClean="0">
                <a:solidFill>
                  <a:schemeClr val="bg1"/>
                </a:solidFill>
              </a:rPr>
              <a:t>1</a:t>
            </a:fld>
            <a:endParaRPr lang="en-US" dirty="0">
              <a:solidFill>
                <a:schemeClr val="bg1"/>
              </a:solidFill>
            </a:endParaRPr>
          </a:p>
        </p:txBody>
      </p:sp>
      <p:sp>
        <p:nvSpPr>
          <p:cNvPr id="14" name="Rectangle 13">
            <a:extLst>
              <a:ext uri="{FF2B5EF4-FFF2-40B4-BE49-F238E27FC236}">
                <a16:creationId xmlns:a16="http://schemas.microsoft.com/office/drawing/2014/main" id="{D5A5AD5B-E4D0-7957-4F07-85CC36AA5B87}"/>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C1C26F53-8B77-78AB-8B50-75F96B2AFC6B}"/>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0">
            <a:extLst>
              <a:ext uri="{FF2B5EF4-FFF2-40B4-BE49-F238E27FC236}">
                <a16:creationId xmlns:a16="http://schemas.microsoft.com/office/drawing/2014/main" id="{6FB0515A-1EF1-C9CF-29FF-79498186586B}"/>
              </a:ext>
            </a:extLst>
          </p:cNvPr>
          <p:cNvSpPr/>
          <p:nvPr/>
        </p:nvSpPr>
        <p:spPr>
          <a:xfrm>
            <a:off x="2317790" y="2139079"/>
            <a:ext cx="7556421" cy="1417558"/>
          </a:xfrm>
          <a:prstGeom prst="rect">
            <a:avLst/>
          </a:prstGeom>
          <a:noFill/>
          <a:ln/>
        </p:spPr>
        <p:txBody>
          <a:bodyPr wrap="square" lIns="0" tIns="0" rIns="0" bIns="0" rtlCol="0" anchor="t"/>
          <a:lstStyle/>
          <a:p>
            <a:pPr marL="0" indent="0" algn="ctr">
              <a:lnSpc>
                <a:spcPts val="5550"/>
              </a:lnSpc>
              <a:buNone/>
            </a:pPr>
            <a:r>
              <a:rPr lang="en-US" sz="4450" kern="0" spc="-134" dirty="0">
                <a:solidFill>
                  <a:srgbClr val="2C3F42"/>
                </a:solidFill>
                <a:latin typeface="Arial Unicode MS"/>
                <a:ea typeface="Bitter Medium" pitchFamily="34" charset="-122"/>
                <a:cs typeface="Bitter Medium" pitchFamily="34" charset="-120"/>
              </a:rPr>
              <a:t>UK Train Rides: Operational Performance Analysis</a:t>
            </a:r>
            <a:endParaRPr lang="en-US" sz="4450" dirty="0">
              <a:latin typeface="Arial Unicode MS"/>
            </a:endParaRPr>
          </a:p>
        </p:txBody>
      </p:sp>
      <p:sp>
        <p:nvSpPr>
          <p:cNvPr id="17" name="TextBox 16">
            <a:extLst>
              <a:ext uri="{FF2B5EF4-FFF2-40B4-BE49-F238E27FC236}">
                <a16:creationId xmlns:a16="http://schemas.microsoft.com/office/drawing/2014/main" id="{E4C116F0-DBB8-E075-8468-390CBA1BBFD4}"/>
              </a:ext>
            </a:extLst>
          </p:cNvPr>
          <p:cNvSpPr txBox="1"/>
          <p:nvPr/>
        </p:nvSpPr>
        <p:spPr>
          <a:xfrm>
            <a:off x="4405515" y="3674701"/>
            <a:ext cx="3380970" cy="369332"/>
          </a:xfrm>
          <a:prstGeom prst="rect">
            <a:avLst/>
          </a:prstGeom>
          <a:noFill/>
        </p:spPr>
        <p:txBody>
          <a:bodyPr wrap="square" rtlCol="0">
            <a:spAutoFit/>
          </a:bodyPr>
          <a:lstStyle/>
          <a:p>
            <a:r>
              <a:rPr lang="en-US" dirty="0"/>
              <a:t>Presenter:  Mazen (Team Leader) </a:t>
            </a:r>
          </a:p>
        </p:txBody>
      </p:sp>
      <p:sp>
        <p:nvSpPr>
          <p:cNvPr id="18" name="TextBox 17">
            <a:extLst>
              <a:ext uri="{FF2B5EF4-FFF2-40B4-BE49-F238E27FC236}">
                <a16:creationId xmlns:a16="http://schemas.microsoft.com/office/drawing/2014/main" id="{85534527-E484-937C-C237-B06B298205D4}"/>
              </a:ext>
            </a:extLst>
          </p:cNvPr>
          <p:cNvSpPr txBox="1"/>
          <p:nvPr/>
        </p:nvSpPr>
        <p:spPr>
          <a:xfrm>
            <a:off x="5266649" y="4162097"/>
            <a:ext cx="1658702" cy="369332"/>
          </a:xfrm>
          <a:prstGeom prst="rect">
            <a:avLst/>
          </a:prstGeom>
          <a:noFill/>
        </p:spPr>
        <p:txBody>
          <a:bodyPr wrap="square" rtlCol="0">
            <a:spAutoFit/>
          </a:bodyPr>
          <a:lstStyle/>
          <a:p>
            <a:r>
              <a:rPr lang="en-US" dirty="0"/>
              <a:t>Date: 4/4/2025</a:t>
            </a:r>
          </a:p>
        </p:txBody>
      </p:sp>
    </p:spTree>
    <p:extLst>
      <p:ext uri="{BB962C8B-B14F-4D97-AF65-F5344CB8AC3E}">
        <p14:creationId xmlns:p14="http://schemas.microsoft.com/office/powerpoint/2010/main" val="2770770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ECFE7-F558-80D6-ADBE-8872D2B8249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8BBDECF-0E93-AC38-6EB4-B938B6D0279F}"/>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46FCD55-347D-E53D-822B-1D67B0616190}"/>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40FCF05A-9157-657C-469E-8CB9A09A02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EE66D12-4029-4917-6EF7-312993944B9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1E882C62-99B5-17BA-9D0F-BB104B3DE3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643C1B6B-8161-FA2F-1113-7ED37F50F37C}"/>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4534EB30-AD59-EDD6-3E4F-A82B5635B631}"/>
              </a:ext>
            </a:extLst>
          </p:cNvPr>
          <p:cNvSpPr>
            <a:spLocks noGrp="1"/>
          </p:cNvSpPr>
          <p:nvPr>
            <p:ph type="sldNum" sz="quarter" idx="12"/>
          </p:nvPr>
        </p:nvSpPr>
        <p:spPr/>
        <p:txBody>
          <a:bodyPr/>
          <a:lstStyle/>
          <a:p>
            <a:fld id="{60A8E374-2977-4823-8073-360F0642C6DD}" type="slidenum">
              <a:rPr lang="en-US" smtClean="0">
                <a:solidFill>
                  <a:schemeClr val="bg1"/>
                </a:solidFill>
              </a:rPr>
              <a:t>2</a:t>
            </a:fld>
            <a:endParaRPr lang="en-US" dirty="0">
              <a:solidFill>
                <a:schemeClr val="bg1"/>
              </a:solidFill>
            </a:endParaRPr>
          </a:p>
        </p:txBody>
      </p:sp>
      <p:sp>
        <p:nvSpPr>
          <p:cNvPr id="14" name="Rectangle 13">
            <a:extLst>
              <a:ext uri="{FF2B5EF4-FFF2-40B4-BE49-F238E27FC236}">
                <a16:creationId xmlns:a16="http://schemas.microsoft.com/office/drawing/2014/main" id="{AB4C8CC2-BBBF-D660-1B3B-79A1D289CA4D}"/>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ABF4F17E-9945-BE24-3188-49B594BE79ED}"/>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1">
            <a:extLst>
              <a:ext uri="{FF2B5EF4-FFF2-40B4-BE49-F238E27FC236}">
                <a16:creationId xmlns:a16="http://schemas.microsoft.com/office/drawing/2014/main" id="{B6F3D22D-11D0-22D8-9016-7B5400DCE1B1}"/>
              </a:ext>
            </a:extLst>
          </p:cNvPr>
          <p:cNvSpPr/>
          <p:nvPr/>
        </p:nvSpPr>
        <p:spPr>
          <a:xfrm>
            <a:off x="1326227" y="2221376"/>
            <a:ext cx="9897773" cy="170633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This project delves into the operational performance of UK train rides using Power BI. Our team, the Insight Hunters, aims to provide actionable insights into service efficiency, delay causes, customer behavior, and financial impacts. We've developed key dashboards to answer analytical, strategic, and operational business questions, employing tools like Power Query and DAX.</a:t>
            </a:r>
            <a:endParaRPr lang="en-US" sz="1750" dirty="0"/>
          </a:p>
        </p:txBody>
      </p:sp>
      <p:sp>
        <p:nvSpPr>
          <p:cNvPr id="3" name="Text 2">
            <a:extLst>
              <a:ext uri="{FF2B5EF4-FFF2-40B4-BE49-F238E27FC236}">
                <a16:creationId xmlns:a16="http://schemas.microsoft.com/office/drawing/2014/main" id="{10A905E6-83F9-8E8E-0391-DA7F34C27AD7}"/>
              </a:ext>
            </a:extLst>
          </p:cNvPr>
          <p:cNvSpPr/>
          <p:nvPr/>
        </p:nvSpPr>
        <p:spPr>
          <a:xfrm>
            <a:off x="1326227" y="4302199"/>
            <a:ext cx="9897773"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Our findings aim to support decision-making processes by identifying areas for performance improvement, cost reduction, and enhanced customer satisfaction. Join us as we explore the data and uncover valuable insights to optimise UK train services.</a:t>
            </a:r>
            <a:endParaRPr lang="en-US" sz="1750" dirty="0"/>
          </a:p>
        </p:txBody>
      </p:sp>
      <p:sp>
        <p:nvSpPr>
          <p:cNvPr id="4" name="TextBox 3">
            <a:extLst>
              <a:ext uri="{FF2B5EF4-FFF2-40B4-BE49-F238E27FC236}">
                <a16:creationId xmlns:a16="http://schemas.microsoft.com/office/drawing/2014/main" id="{7FE7DB8B-CBD9-4633-7CC1-6BF14198BD11}"/>
              </a:ext>
            </a:extLst>
          </p:cNvPr>
          <p:cNvSpPr txBox="1"/>
          <p:nvPr/>
        </p:nvSpPr>
        <p:spPr>
          <a:xfrm>
            <a:off x="1216240" y="1434796"/>
            <a:ext cx="2432481" cy="584775"/>
          </a:xfrm>
          <a:prstGeom prst="rect">
            <a:avLst/>
          </a:prstGeom>
          <a:noFill/>
        </p:spPr>
        <p:txBody>
          <a:bodyPr wrap="square" rtlCol="0">
            <a:spAutoFit/>
          </a:bodyPr>
          <a:lstStyle/>
          <a:p>
            <a:r>
              <a:rPr lang="en-US" sz="3200" b="1" dirty="0"/>
              <a:t>Project Idea</a:t>
            </a:r>
          </a:p>
        </p:txBody>
      </p:sp>
    </p:spTree>
    <p:extLst>
      <p:ext uri="{BB962C8B-B14F-4D97-AF65-F5344CB8AC3E}">
        <p14:creationId xmlns:p14="http://schemas.microsoft.com/office/powerpoint/2010/main" val="1144753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2C24-C842-ADDB-B9DB-F8A95BAB33B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66AE08D-A22D-399C-B6B1-9B599680C224}"/>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A8B5239-6B09-06BE-41DB-6B59A66F09BD}"/>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FDE5FE5-FAF3-CDD7-FFC7-B43517482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0B6818C-5313-832E-27C8-6BD53F6774D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E87B3262-B537-4D12-02B8-6D545F10D69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3368CBAC-B943-AA0F-4AA7-DCA14765945A}"/>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7FCF0D5C-DDA2-0A3F-4A0A-BB84805ECCCB}"/>
              </a:ext>
            </a:extLst>
          </p:cNvPr>
          <p:cNvSpPr>
            <a:spLocks noGrp="1"/>
          </p:cNvSpPr>
          <p:nvPr>
            <p:ph type="sldNum" sz="quarter" idx="12"/>
          </p:nvPr>
        </p:nvSpPr>
        <p:spPr/>
        <p:txBody>
          <a:bodyPr/>
          <a:lstStyle/>
          <a:p>
            <a:fld id="{60A8E374-2977-4823-8073-360F0642C6DD}" type="slidenum">
              <a:rPr lang="en-US" smtClean="0">
                <a:solidFill>
                  <a:schemeClr val="bg1"/>
                </a:solidFill>
              </a:rPr>
              <a:t>3</a:t>
            </a:fld>
            <a:endParaRPr lang="en-US" dirty="0">
              <a:solidFill>
                <a:schemeClr val="bg1"/>
              </a:solidFill>
            </a:endParaRPr>
          </a:p>
        </p:txBody>
      </p:sp>
      <p:sp>
        <p:nvSpPr>
          <p:cNvPr id="14" name="Rectangle 13">
            <a:extLst>
              <a:ext uri="{FF2B5EF4-FFF2-40B4-BE49-F238E27FC236}">
                <a16:creationId xmlns:a16="http://schemas.microsoft.com/office/drawing/2014/main" id="{6B7AE645-7EF9-F5CB-D3BF-6BD9D931BE4F}"/>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2A6F5D1C-7036-F778-D049-FDCA44BDB7C9}"/>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2338E98-4B8C-8D4A-3141-CE9C437CC189}"/>
              </a:ext>
            </a:extLst>
          </p:cNvPr>
          <p:cNvSpPr txBox="1"/>
          <p:nvPr/>
        </p:nvSpPr>
        <p:spPr>
          <a:xfrm>
            <a:off x="1216240" y="1434796"/>
            <a:ext cx="2432481" cy="584775"/>
          </a:xfrm>
          <a:prstGeom prst="rect">
            <a:avLst/>
          </a:prstGeom>
          <a:noFill/>
        </p:spPr>
        <p:txBody>
          <a:bodyPr wrap="square" rtlCol="0">
            <a:spAutoFit/>
          </a:bodyPr>
          <a:lstStyle/>
          <a:p>
            <a:r>
              <a:rPr lang="en-US" sz="3200" b="1" dirty="0"/>
              <a:t>Project Idea</a:t>
            </a:r>
          </a:p>
        </p:txBody>
      </p:sp>
      <p:sp>
        <p:nvSpPr>
          <p:cNvPr id="6" name="Text 1">
            <a:extLst>
              <a:ext uri="{FF2B5EF4-FFF2-40B4-BE49-F238E27FC236}">
                <a16:creationId xmlns:a16="http://schemas.microsoft.com/office/drawing/2014/main" id="{0D9FB46D-3B42-4459-91A7-99B5C3C1FC69}"/>
              </a:ext>
            </a:extLst>
          </p:cNvPr>
          <p:cNvSpPr/>
          <p:nvPr/>
        </p:nvSpPr>
        <p:spPr>
          <a:xfrm>
            <a:off x="1321886" y="2098509"/>
            <a:ext cx="1949410" cy="354330"/>
          </a:xfrm>
          <a:prstGeom prst="rect">
            <a:avLst/>
          </a:prstGeom>
          <a:noFill/>
          <a:ln/>
        </p:spPr>
        <p:txBody>
          <a:bodyPr wrap="none" lIns="0" tIns="0" rIns="0" bIns="0" rtlCol="0" anchor="t"/>
          <a:lstStyle/>
          <a:p>
            <a:pPr marL="0" indent="0" algn="l">
              <a:lnSpc>
                <a:spcPts val="2750"/>
              </a:lnSpc>
              <a:buNone/>
            </a:pPr>
            <a:r>
              <a:rPr lang="en-US" sz="1750" kern="0" spc="-67" dirty="0">
                <a:solidFill>
                  <a:srgbClr val="2C3F42"/>
                </a:solidFill>
                <a:latin typeface="Bitter Medium" pitchFamily="34" charset="0"/>
                <a:ea typeface="Bitter Medium" pitchFamily="34" charset="-122"/>
                <a:cs typeface="Bitter Medium" pitchFamily="34" charset="-120"/>
              </a:rPr>
              <a:t>Project Background</a:t>
            </a:r>
            <a:endParaRPr lang="en-US" sz="1750" dirty="0"/>
          </a:p>
        </p:txBody>
      </p:sp>
      <p:sp>
        <p:nvSpPr>
          <p:cNvPr id="10" name="Text 2">
            <a:extLst>
              <a:ext uri="{FF2B5EF4-FFF2-40B4-BE49-F238E27FC236}">
                <a16:creationId xmlns:a16="http://schemas.microsoft.com/office/drawing/2014/main" id="{E2DA941B-587B-8A7C-A8D5-2C51B5CA7855}"/>
              </a:ext>
            </a:extLst>
          </p:cNvPr>
          <p:cNvSpPr/>
          <p:nvPr/>
        </p:nvSpPr>
        <p:spPr>
          <a:xfrm>
            <a:off x="1321886" y="2792618"/>
            <a:ext cx="3392157" cy="217741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The project addresses the increasing complexity of UK train operations. Rising customer expectations and operational challenges necessitate leveraging data analytics to improve train services.</a:t>
            </a:r>
            <a:endParaRPr lang="en-US" sz="1750" dirty="0"/>
          </a:p>
        </p:txBody>
      </p:sp>
      <p:sp>
        <p:nvSpPr>
          <p:cNvPr id="12" name="Text 3">
            <a:extLst>
              <a:ext uri="{FF2B5EF4-FFF2-40B4-BE49-F238E27FC236}">
                <a16:creationId xmlns:a16="http://schemas.microsoft.com/office/drawing/2014/main" id="{4C4D5021-5864-0760-3E02-6CFC239A825E}"/>
              </a:ext>
            </a:extLst>
          </p:cNvPr>
          <p:cNvSpPr/>
          <p:nvPr/>
        </p:nvSpPr>
        <p:spPr>
          <a:xfrm>
            <a:off x="5297417" y="2098509"/>
            <a:ext cx="2835235" cy="354330"/>
          </a:xfrm>
          <a:prstGeom prst="rect">
            <a:avLst/>
          </a:prstGeom>
          <a:noFill/>
          <a:ln/>
        </p:spPr>
        <p:txBody>
          <a:bodyPr wrap="none" lIns="0" tIns="0" rIns="0" bIns="0" rtlCol="0" anchor="t"/>
          <a:lstStyle/>
          <a:p>
            <a:pPr marL="0" indent="0" algn="l">
              <a:lnSpc>
                <a:spcPts val="2750"/>
              </a:lnSpc>
              <a:buNone/>
            </a:pPr>
            <a:r>
              <a:rPr lang="en-US" sz="1750" kern="0" spc="-67" dirty="0">
                <a:solidFill>
                  <a:srgbClr val="2C3F42"/>
                </a:solidFill>
                <a:latin typeface="Arial Unicode MS"/>
                <a:ea typeface="Bitter Medium" pitchFamily="34" charset="-122"/>
                <a:cs typeface="Bitter Medium" pitchFamily="34" charset="-120"/>
              </a:rPr>
              <a:t>Problem Statement</a:t>
            </a:r>
            <a:endParaRPr lang="en-US" sz="1750" dirty="0">
              <a:latin typeface="Arial Unicode MS"/>
            </a:endParaRPr>
          </a:p>
        </p:txBody>
      </p:sp>
      <p:sp>
        <p:nvSpPr>
          <p:cNvPr id="16" name="Text 4">
            <a:extLst>
              <a:ext uri="{FF2B5EF4-FFF2-40B4-BE49-F238E27FC236}">
                <a16:creationId xmlns:a16="http://schemas.microsoft.com/office/drawing/2014/main" id="{60A265E8-51DA-B613-3EB7-CA92A666C444}"/>
              </a:ext>
            </a:extLst>
          </p:cNvPr>
          <p:cNvSpPr/>
          <p:nvPr/>
        </p:nvSpPr>
        <p:spPr>
          <a:xfrm>
            <a:off x="5297417" y="2792618"/>
            <a:ext cx="3038715"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The primary issue is</a:t>
            </a:r>
            <a:r>
              <a:rPr lang="en-US" sz="1750" u="sng" kern="0" spc="-36" dirty="0">
                <a:solidFill>
                  <a:srgbClr val="2B2E3C"/>
                </a:solidFill>
                <a:latin typeface="Open Sans" pitchFamily="34" charset="0"/>
                <a:ea typeface="Open Sans" pitchFamily="34" charset="-122"/>
                <a:cs typeface="Open Sans" pitchFamily="34" charset="-120"/>
              </a:rPr>
              <a:t> </a:t>
            </a:r>
            <a:r>
              <a:rPr lang="en-US" sz="1750" kern="0" spc="-36" dirty="0">
                <a:solidFill>
                  <a:srgbClr val="2B2E3C"/>
                </a:solidFill>
                <a:latin typeface="Open Sans" pitchFamily="34" charset="0"/>
                <a:ea typeface="Open Sans" pitchFamily="34" charset="-122"/>
                <a:cs typeface="Open Sans" pitchFamily="34" charset="-120"/>
              </a:rPr>
              <a:t>inefficiency in train operations, including delays, revenue losses, and factors affecting customer satisfaction and operational costs.</a:t>
            </a:r>
            <a:endParaRPr lang="en-US" sz="1750" dirty="0"/>
          </a:p>
        </p:txBody>
      </p:sp>
      <p:sp>
        <p:nvSpPr>
          <p:cNvPr id="17" name="Text 5">
            <a:extLst>
              <a:ext uri="{FF2B5EF4-FFF2-40B4-BE49-F238E27FC236}">
                <a16:creationId xmlns:a16="http://schemas.microsoft.com/office/drawing/2014/main" id="{3BC71717-A969-7D40-2976-6C0BBB163031}"/>
              </a:ext>
            </a:extLst>
          </p:cNvPr>
          <p:cNvSpPr/>
          <p:nvPr/>
        </p:nvSpPr>
        <p:spPr>
          <a:xfrm>
            <a:off x="9113198" y="2102028"/>
            <a:ext cx="1225021" cy="354330"/>
          </a:xfrm>
          <a:prstGeom prst="rect">
            <a:avLst/>
          </a:prstGeom>
          <a:noFill/>
          <a:ln/>
        </p:spPr>
        <p:txBody>
          <a:bodyPr wrap="none" lIns="0" tIns="0" rIns="0" bIns="0" rtlCol="0" anchor="t"/>
          <a:lstStyle/>
          <a:p>
            <a:pPr marL="0" indent="0" algn="l">
              <a:lnSpc>
                <a:spcPts val="2750"/>
              </a:lnSpc>
              <a:buNone/>
            </a:pPr>
            <a:r>
              <a:rPr lang="en-US" sz="1750" kern="0" spc="-67" dirty="0">
                <a:solidFill>
                  <a:srgbClr val="2C3F42"/>
                </a:solidFill>
                <a:latin typeface="Bitter Medium" pitchFamily="34" charset="0"/>
                <a:ea typeface="Bitter Medium" pitchFamily="34" charset="-122"/>
                <a:cs typeface="Bitter Medium" pitchFamily="34" charset="-120"/>
              </a:rPr>
              <a:t>Objective</a:t>
            </a:r>
            <a:endParaRPr lang="en-US" sz="1750" dirty="0"/>
          </a:p>
        </p:txBody>
      </p:sp>
      <p:sp>
        <p:nvSpPr>
          <p:cNvPr id="18" name="Text 6">
            <a:extLst>
              <a:ext uri="{FF2B5EF4-FFF2-40B4-BE49-F238E27FC236}">
                <a16:creationId xmlns:a16="http://schemas.microsoft.com/office/drawing/2014/main" id="{9B297BA4-4FDF-674A-1889-B8A360AC353E}"/>
              </a:ext>
            </a:extLst>
          </p:cNvPr>
          <p:cNvSpPr/>
          <p:nvPr/>
        </p:nvSpPr>
        <p:spPr>
          <a:xfrm>
            <a:off x="9113198" y="2792618"/>
            <a:ext cx="2845023"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The goal is to analyze delay causes, trip distributions, financial losses, and customer preferences to enable better resource allocation and service optimisation.</a:t>
            </a:r>
            <a:endParaRPr lang="en-US" sz="1750" dirty="0"/>
          </a:p>
        </p:txBody>
      </p:sp>
    </p:spTree>
    <p:extLst>
      <p:ext uri="{BB962C8B-B14F-4D97-AF65-F5344CB8AC3E}">
        <p14:creationId xmlns:p14="http://schemas.microsoft.com/office/powerpoint/2010/main" val="2183547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AB48-D175-C11D-9F69-76EF1D2D6C5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7B82E652-ECD4-E4EC-40A3-C655823C5628}"/>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30F4B2-B0BA-A2A8-319A-8437E2A79C0F}"/>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A4E19A2C-145B-C7DE-369D-7BF7A018D4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6ABDF81-AAB9-0924-4C8F-FAEEC793D5E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5729EA23-253F-CD70-C324-EFBFD5FBB1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E1285875-B1F1-68C5-D19B-6229D2179CEE}"/>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4D5C0036-F502-BC85-5609-15CE2D0CD369}"/>
              </a:ext>
            </a:extLst>
          </p:cNvPr>
          <p:cNvSpPr>
            <a:spLocks noGrp="1"/>
          </p:cNvSpPr>
          <p:nvPr>
            <p:ph type="sldNum" sz="quarter" idx="12"/>
          </p:nvPr>
        </p:nvSpPr>
        <p:spPr/>
        <p:txBody>
          <a:bodyPr/>
          <a:lstStyle/>
          <a:p>
            <a:fld id="{60A8E374-2977-4823-8073-360F0642C6DD}" type="slidenum">
              <a:rPr lang="en-US" smtClean="0">
                <a:solidFill>
                  <a:schemeClr val="bg1"/>
                </a:solidFill>
              </a:rPr>
              <a:t>4</a:t>
            </a:fld>
            <a:endParaRPr lang="en-US" dirty="0">
              <a:solidFill>
                <a:schemeClr val="bg1"/>
              </a:solidFill>
            </a:endParaRPr>
          </a:p>
        </p:txBody>
      </p:sp>
      <p:sp>
        <p:nvSpPr>
          <p:cNvPr id="14" name="Rectangle 13">
            <a:extLst>
              <a:ext uri="{FF2B5EF4-FFF2-40B4-BE49-F238E27FC236}">
                <a16:creationId xmlns:a16="http://schemas.microsoft.com/office/drawing/2014/main" id="{2D8C3074-6D21-90D3-FAF0-7D46534B6F92}"/>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82D3FACB-485E-A5CA-2164-70A4BAF1C2B0}"/>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C384C85-1655-A381-A8C6-E20F23948D76}"/>
              </a:ext>
            </a:extLst>
          </p:cNvPr>
          <p:cNvSpPr txBox="1"/>
          <p:nvPr/>
        </p:nvSpPr>
        <p:spPr>
          <a:xfrm>
            <a:off x="1216240" y="1434796"/>
            <a:ext cx="3577702" cy="584775"/>
          </a:xfrm>
          <a:prstGeom prst="rect">
            <a:avLst/>
          </a:prstGeom>
          <a:noFill/>
        </p:spPr>
        <p:txBody>
          <a:bodyPr wrap="square" rtlCol="0">
            <a:spAutoFit/>
          </a:bodyPr>
          <a:lstStyle/>
          <a:p>
            <a:r>
              <a:rPr lang="en-US" sz="3200" b="1" dirty="0"/>
              <a:t>Project Wireframe</a:t>
            </a:r>
          </a:p>
        </p:txBody>
      </p:sp>
      <p:sp>
        <p:nvSpPr>
          <p:cNvPr id="16" name="Text 2">
            <a:extLst>
              <a:ext uri="{FF2B5EF4-FFF2-40B4-BE49-F238E27FC236}">
                <a16:creationId xmlns:a16="http://schemas.microsoft.com/office/drawing/2014/main" id="{CF6525FE-7D96-4175-5A43-ECED1E637621}"/>
              </a:ext>
            </a:extLst>
          </p:cNvPr>
          <p:cNvSpPr/>
          <p:nvPr/>
        </p:nvSpPr>
        <p:spPr>
          <a:xfrm>
            <a:off x="1361534" y="2145446"/>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Analytical Dashboard</a:t>
            </a:r>
            <a:endParaRPr lang="en-US" sz="2200" dirty="0"/>
          </a:p>
        </p:txBody>
      </p:sp>
      <p:sp>
        <p:nvSpPr>
          <p:cNvPr id="17" name="Text 3">
            <a:extLst>
              <a:ext uri="{FF2B5EF4-FFF2-40B4-BE49-F238E27FC236}">
                <a16:creationId xmlns:a16="http://schemas.microsoft.com/office/drawing/2014/main" id="{ADEEBB05-7098-0C92-F9DF-C169339FCE3C}"/>
              </a:ext>
            </a:extLst>
          </p:cNvPr>
          <p:cNvSpPr/>
          <p:nvPr/>
        </p:nvSpPr>
        <p:spPr>
          <a:xfrm>
            <a:off x="1361534" y="2635864"/>
            <a:ext cx="4524361"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Focuses on customer and sales insights, providing an overview of trip volume, delay reasons, ticket class distributions, and revenue trends.</a:t>
            </a:r>
            <a:endParaRPr lang="en-US" sz="1750" dirty="0"/>
          </a:p>
        </p:txBody>
      </p:sp>
      <p:sp>
        <p:nvSpPr>
          <p:cNvPr id="18" name="Text 5">
            <a:extLst>
              <a:ext uri="{FF2B5EF4-FFF2-40B4-BE49-F238E27FC236}">
                <a16:creationId xmlns:a16="http://schemas.microsoft.com/office/drawing/2014/main" id="{1106758A-295E-DD26-5242-A2BC43EF296B}"/>
              </a:ext>
            </a:extLst>
          </p:cNvPr>
          <p:cNvSpPr/>
          <p:nvPr/>
        </p:nvSpPr>
        <p:spPr>
          <a:xfrm>
            <a:off x="7024760" y="2173267"/>
            <a:ext cx="2835235" cy="354330"/>
          </a:xfrm>
          <a:prstGeom prst="rect">
            <a:avLst/>
          </a:prstGeom>
          <a:noFill/>
          <a:ln/>
        </p:spPr>
        <p:txBody>
          <a:bodyPr wrap="none" lIns="0" tIns="0" rIns="0" bIns="0" rtlCol="0" anchor="t"/>
          <a:lstStyle/>
          <a:p>
            <a:pPr marL="0" indent="0" algn="l">
              <a:lnSpc>
                <a:spcPts val="2750"/>
              </a:lnSpc>
              <a:buNone/>
            </a:pPr>
            <a:r>
              <a:rPr lang="en-US" sz="2200" b="1" kern="0" spc="-67" dirty="0">
                <a:solidFill>
                  <a:srgbClr val="2B2E3C"/>
                </a:solidFill>
                <a:latin typeface="Arial Narrow" panose="020B0606020202030204" pitchFamily="34" charset="0"/>
                <a:ea typeface="Bitter Medium" pitchFamily="34" charset="-122"/>
                <a:cs typeface="Bitter Medium" pitchFamily="34" charset="-120"/>
              </a:rPr>
              <a:t>Strategic Dashboard</a:t>
            </a:r>
            <a:endParaRPr lang="en-US" sz="2200" b="1" dirty="0">
              <a:latin typeface="Arial Narrow" panose="020B0606020202030204" pitchFamily="34" charset="0"/>
            </a:endParaRPr>
          </a:p>
        </p:txBody>
      </p:sp>
      <p:sp>
        <p:nvSpPr>
          <p:cNvPr id="19" name="Text 6">
            <a:extLst>
              <a:ext uri="{FF2B5EF4-FFF2-40B4-BE49-F238E27FC236}">
                <a16:creationId xmlns:a16="http://schemas.microsoft.com/office/drawing/2014/main" id="{4B4612FF-6B6D-C7D3-0FBD-6D90D1278C0C}"/>
              </a:ext>
            </a:extLst>
          </p:cNvPr>
          <p:cNvSpPr/>
          <p:nvPr/>
        </p:nvSpPr>
        <p:spPr>
          <a:xfrm>
            <a:off x="7024760" y="2663685"/>
            <a:ext cx="4329040"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Highlights business performance and customer experience, including station performance and revenue trends.</a:t>
            </a:r>
            <a:endParaRPr lang="en-US" sz="1750" dirty="0"/>
          </a:p>
        </p:txBody>
      </p:sp>
      <p:sp>
        <p:nvSpPr>
          <p:cNvPr id="20" name="Text 8">
            <a:extLst>
              <a:ext uri="{FF2B5EF4-FFF2-40B4-BE49-F238E27FC236}">
                <a16:creationId xmlns:a16="http://schemas.microsoft.com/office/drawing/2014/main" id="{3DE17017-9F84-D4BD-2828-F242625DC20B}"/>
              </a:ext>
            </a:extLst>
          </p:cNvPr>
          <p:cNvSpPr/>
          <p:nvPr/>
        </p:nvSpPr>
        <p:spPr>
          <a:xfrm>
            <a:off x="2987080" y="4551195"/>
            <a:ext cx="289881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Operational Dashboard</a:t>
            </a:r>
            <a:endParaRPr lang="en-US" sz="2200" dirty="0"/>
          </a:p>
        </p:txBody>
      </p:sp>
      <p:sp>
        <p:nvSpPr>
          <p:cNvPr id="21" name="Text 9">
            <a:extLst>
              <a:ext uri="{FF2B5EF4-FFF2-40B4-BE49-F238E27FC236}">
                <a16:creationId xmlns:a16="http://schemas.microsoft.com/office/drawing/2014/main" id="{5E115A30-A2DB-EAAB-2A13-FA6E272215EA}"/>
              </a:ext>
            </a:extLst>
          </p:cNvPr>
          <p:cNvSpPr/>
          <p:nvPr/>
        </p:nvSpPr>
        <p:spPr>
          <a:xfrm>
            <a:off x="2987080" y="5041613"/>
            <a:ext cx="7087553"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Monitors real-time efficiency metrics, delay trends, and financial impacts to improve operational performance.</a:t>
            </a:r>
            <a:endParaRPr lang="en-US" sz="1750" dirty="0"/>
          </a:p>
        </p:txBody>
      </p:sp>
    </p:spTree>
    <p:extLst>
      <p:ext uri="{BB962C8B-B14F-4D97-AF65-F5344CB8AC3E}">
        <p14:creationId xmlns:p14="http://schemas.microsoft.com/office/powerpoint/2010/main" val="3192119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571E3-FDAC-22BD-D323-A30099638EA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2DBC18B-B517-0E73-F750-6C1758EE7566}"/>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C7692FE-D6C0-E2C4-5277-90E17EB5583D}"/>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508E1D53-72F6-CB7B-8BB0-30A6CDC998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0FAB2B1-9F46-3981-4223-1FF1DFA5229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650F6FF0-4856-85BC-1920-98380787F1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58292B9D-1E06-998F-EBC2-82050C075AD8}"/>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E0319953-B4C1-7E07-C4F4-5D918104EA98}"/>
              </a:ext>
            </a:extLst>
          </p:cNvPr>
          <p:cNvSpPr>
            <a:spLocks noGrp="1"/>
          </p:cNvSpPr>
          <p:nvPr>
            <p:ph type="sldNum" sz="quarter" idx="12"/>
          </p:nvPr>
        </p:nvSpPr>
        <p:spPr/>
        <p:txBody>
          <a:bodyPr/>
          <a:lstStyle/>
          <a:p>
            <a:fld id="{60A8E374-2977-4823-8073-360F0642C6DD}" type="slidenum">
              <a:rPr lang="en-US" smtClean="0">
                <a:solidFill>
                  <a:schemeClr val="bg1"/>
                </a:solidFill>
              </a:rPr>
              <a:t>5</a:t>
            </a:fld>
            <a:endParaRPr lang="en-US" dirty="0">
              <a:solidFill>
                <a:schemeClr val="bg1"/>
              </a:solidFill>
            </a:endParaRPr>
          </a:p>
        </p:txBody>
      </p:sp>
      <p:sp>
        <p:nvSpPr>
          <p:cNvPr id="14" name="Rectangle 13">
            <a:extLst>
              <a:ext uri="{FF2B5EF4-FFF2-40B4-BE49-F238E27FC236}">
                <a16:creationId xmlns:a16="http://schemas.microsoft.com/office/drawing/2014/main" id="{9513270B-8A95-98A2-B990-A435D4F8FF2A}"/>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6120ECB4-66D2-7ED9-1581-2E002AEAC6BB}"/>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BA8D29-7A49-2481-EC08-CCB197A44C2F}"/>
              </a:ext>
            </a:extLst>
          </p:cNvPr>
          <p:cNvSpPr txBox="1"/>
          <p:nvPr/>
        </p:nvSpPr>
        <p:spPr>
          <a:xfrm>
            <a:off x="1216240" y="1434796"/>
            <a:ext cx="4106258" cy="584775"/>
          </a:xfrm>
          <a:prstGeom prst="rect">
            <a:avLst/>
          </a:prstGeom>
          <a:noFill/>
        </p:spPr>
        <p:txBody>
          <a:bodyPr wrap="square" rtlCol="0">
            <a:spAutoFit/>
          </a:bodyPr>
          <a:lstStyle/>
          <a:p>
            <a:r>
              <a:rPr lang="en-US" sz="3200" b="1" dirty="0"/>
              <a:t>End Users &amp; Features</a:t>
            </a:r>
          </a:p>
        </p:txBody>
      </p:sp>
      <p:graphicFrame>
        <p:nvGraphicFramePr>
          <p:cNvPr id="12" name="Table 11">
            <a:extLst>
              <a:ext uri="{FF2B5EF4-FFF2-40B4-BE49-F238E27FC236}">
                <a16:creationId xmlns:a16="http://schemas.microsoft.com/office/drawing/2014/main" id="{7AA7B37E-ED1B-AE4D-84B6-8311305B3389}"/>
              </a:ext>
            </a:extLst>
          </p:cNvPr>
          <p:cNvGraphicFramePr>
            <a:graphicFrameLocks noGrp="1"/>
          </p:cNvGraphicFramePr>
          <p:nvPr>
            <p:extLst>
              <p:ext uri="{D42A27DB-BD31-4B8C-83A1-F6EECF244321}">
                <p14:modId xmlns:p14="http://schemas.microsoft.com/office/powerpoint/2010/main" val="32596190"/>
              </p:ext>
            </p:extLst>
          </p:nvPr>
        </p:nvGraphicFramePr>
        <p:xfrm>
          <a:off x="1361534" y="2689124"/>
          <a:ext cx="9001186" cy="2516075"/>
        </p:xfrm>
        <a:graphic>
          <a:graphicData uri="http://schemas.openxmlformats.org/drawingml/2006/table">
            <a:tbl>
              <a:tblPr firstRow="1" bandRow="1">
                <a:tableStyleId>{5C22544A-7EE6-4342-B048-85BDC9FD1C3A}</a:tableStyleId>
              </a:tblPr>
              <a:tblGrid>
                <a:gridCol w="4500593">
                  <a:extLst>
                    <a:ext uri="{9D8B030D-6E8A-4147-A177-3AD203B41FA5}">
                      <a16:colId xmlns:a16="http://schemas.microsoft.com/office/drawing/2014/main" val="1992754576"/>
                    </a:ext>
                  </a:extLst>
                </a:gridCol>
                <a:gridCol w="4500593">
                  <a:extLst>
                    <a:ext uri="{9D8B030D-6E8A-4147-A177-3AD203B41FA5}">
                      <a16:colId xmlns:a16="http://schemas.microsoft.com/office/drawing/2014/main" val="796002318"/>
                    </a:ext>
                  </a:extLst>
                </a:gridCol>
              </a:tblGrid>
              <a:tr h="503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User Persona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Focus Area</a:t>
                      </a:r>
                    </a:p>
                  </a:txBody>
                  <a:tcPr/>
                </a:tc>
                <a:extLst>
                  <a:ext uri="{0D108BD9-81ED-4DB2-BD59-A6C34878D82A}">
                    <a16:rowId xmlns:a16="http://schemas.microsoft.com/office/drawing/2014/main" val="2728150490"/>
                  </a:ext>
                </a:extLst>
              </a:tr>
              <a:tr h="503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Train Company Executives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Profitability, delay costs</a:t>
                      </a:r>
                    </a:p>
                  </a:txBody>
                  <a:tcPr/>
                </a:tc>
                <a:extLst>
                  <a:ext uri="{0D108BD9-81ED-4DB2-BD59-A6C34878D82A}">
                    <a16:rowId xmlns:a16="http://schemas.microsoft.com/office/drawing/2014/main" val="1552979478"/>
                  </a:ext>
                </a:extLst>
              </a:tr>
              <a:tr h="503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Operations Managers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Train schedules, delays</a:t>
                      </a:r>
                    </a:p>
                  </a:txBody>
                  <a:tcPr/>
                </a:tc>
                <a:extLst>
                  <a:ext uri="{0D108BD9-81ED-4DB2-BD59-A6C34878D82A}">
                    <a16:rowId xmlns:a16="http://schemas.microsoft.com/office/drawing/2014/main" val="2320956958"/>
                  </a:ext>
                </a:extLst>
              </a:tr>
              <a:tr h="503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Customer Experience Teams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Customer satisfaction, refunds</a:t>
                      </a:r>
                    </a:p>
                  </a:txBody>
                  <a:tcPr/>
                </a:tc>
                <a:extLst>
                  <a:ext uri="{0D108BD9-81ED-4DB2-BD59-A6C34878D82A}">
                    <a16:rowId xmlns:a16="http://schemas.microsoft.com/office/drawing/2014/main" val="2645625676"/>
                  </a:ext>
                </a:extLst>
              </a:tr>
              <a:tr h="5032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Passengers </a:t>
                      </a:r>
                      <a:r>
                        <a:rPr lang="en-US" i="1" dirty="0"/>
                        <a:t>(indirect)</a:t>
                      </a:r>
                      <a:endParaRPr 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Service quality, reliability</a:t>
                      </a:r>
                    </a:p>
                  </a:txBody>
                  <a:tcPr/>
                </a:tc>
                <a:extLst>
                  <a:ext uri="{0D108BD9-81ED-4DB2-BD59-A6C34878D82A}">
                    <a16:rowId xmlns:a16="http://schemas.microsoft.com/office/drawing/2014/main" val="3750360990"/>
                  </a:ext>
                </a:extLst>
              </a:tr>
            </a:tbl>
          </a:graphicData>
        </a:graphic>
      </p:graphicFrame>
      <p:sp>
        <p:nvSpPr>
          <p:cNvPr id="23" name="TextBox 22">
            <a:extLst>
              <a:ext uri="{FF2B5EF4-FFF2-40B4-BE49-F238E27FC236}">
                <a16:creationId xmlns:a16="http://schemas.microsoft.com/office/drawing/2014/main" id="{9FA3CC1E-177E-32F1-0678-4CC8BF412A24}"/>
              </a:ext>
            </a:extLst>
          </p:cNvPr>
          <p:cNvSpPr txBox="1"/>
          <p:nvPr/>
        </p:nvSpPr>
        <p:spPr>
          <a:xfrm>
            <a:off x="1283896" y="2172200"/>
            <a:ext cx="2454215" cy="369332"/>
          </a:xfrm>
          <a:prstGeom prst="rect">
            <a:avLst/>
          </a:prstGeom>
          <a:noFill/>
        </p:spPr>
        <p:txBody>
          <a:bodyPr wrap="square">
            <a:spAutoFit/>
          </a:bodyPr>
          <a:lstStyle/>
          <a:p>
            <a:r>
              <a:rPr lang="en-US" b="1" dirty="0"/>
              <a:t>Primary User Personas:</a:t>
            </a:r>
          </a:p>
        </p:txBody>
      </p:sp>
    </p:spTree>
    <p:extLst>
      <p:ext uri="{BB962C8B-B14F-4D97-AF65-F5344CB8AC3E}">
        <p14:creationId xmlns:p14="http://schemas.microsoft.com/office/powerpoint/2010/main" val="2199473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1384D-158D-ADE9-1E0E-27041097DD2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871A2E7-034A-C40D-23F7-D48F80088630}"/>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CF27CD8-1E25-E8E4-1EF8-578E71B1ED8A}"/>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7DFAEA28-86EF-55D4-5F7D-4E247201B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EE4278F-F15E-F519-B2F1-9C077CBD759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32ABBFBC-079A-0385-D615-D53CDC9BF1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E59B41FF-0675-5462-721A-E643624C445A}"/>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5DF4E0E2-BA5A-4D42-F96A-117A21A035F7}"/>
              </a:ext>
            </a:extLst>
          </p:cNvPr>
          <p:cNvSpPr>
            <a:spLocks noGrp="1"/>
          </p:cNvSpPr>
          <p:nvPr>
            <p:ph type="sldNum" sz="quarter" idx="12"/>
          </p:nvPr>
        </p:nvSpPr>
        <p:spPr/>
        <p:txBody>
          <a:bodyPr/>
          <a:lstStyle/>
          <a:p>
            <a:fld id="{60A8E374-2977-4823-8073-360F0642C6DD}" type="slidenum">
              <a:rPr lang="en-US" smtClean="0">
                <a:solidFill>
                  <a:schemeClr val="bg1"/>
                </a:solidFill>
              </a:rPr>
              <a:t>6</a:t>
            </a:fld>
            <a:endParaRPr lang="en-US" dirty="0">
              <a:solidFill>
                <a:schemeClr val="bg1"/>
              </a:solidFill>
            </a:endParaRPr>
          </a:p>
        </p:txBody>
      </p:sp>
      <p:sp>
        <p:nvSpPr>
          <p:cNvPr id="14" name="Rectangle 13">
            <a:extLst>
              <a:ext uri="{FF2B5EF4-FFF2-40B4-BE49-F238E27FC236}">
                <a16:creationId xmlns:a16="http://schemas.microsoft.com/office/drawing/2014/main" id="{996D5A18-23CD-CFCD-2D2C-E8C0BEAA3171}"/>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737B0E78-7B95-32B3-EC65-EB1FAC19FA6C}"/>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51E58FE-1816-B56C-CFCC-835DC4A3D079}"/>
              </a:ext>
            </a:extLst>
          </p:cNvPr>
          <p:cNvSpPr txBox="1"/>
          <p:nvPr/>
        </p:nvSpPr>
        <p:spPr>
          <a:xfrm>
            <a:off x="1216240" y="1434796"/>
            <a:ext cx="4106258" cy="584775"/>
          </a:xfrm>
          <a:prstGeom prst="rect">
            <a:avLst/>
          </a:prstGeom>
          <a:noFill/>
        </p:spPr>
        <p:txBody>
          <a:bodyPr wrap="square" rtlCol="0">
            <a:spAutoFit/>
          </a:bodyPr>
          <a:lstStyle/>
          <a:p>
            <a:r>
              <a:rPr lang="en-US" sz="3200" b="1" dirty="0"/>
              <a:t>End Users &amp; Features</a:t>
            </a:r>
          </a:p>
        </p:txBody>
      </p:sp>
      <p:sp>
        <p:nvSpPr>
          <p:cNvPr id="6" name="TextBox 5">
            <a:extLst>
              <a:ext uri="{FF2B5EF4-FFF2-40B4-BE49-F238E27FC236}">
                <a16:creationId xmlns:a16="http://schemas.microsoft.com/office/drawing/2014/main" id="{2EFEA4AF-7599-72A9-11DD-5CA24153A755}"/>
              </a:ext>
            </a:extLst>
          </p:cNvPr>
          <p:cNvSpPr txBox="1"/>
          <p:nvPr/>
        </p:nvSpPr>
        <p:spPr>
          <a:xfrm>
            <a:off x="1216240" y="2003784"/>
            <a:ext cx="5357088" cy="1754326"/>
          </a:xfrm>
          <a:prstGeom prst="rect">
            <a:avLst/>
          </a:prstGeom>
          <a:noFill/>
        </p:spPr>
        <p:txBody>
          <a:bodyPr wrap="square">
            <a:spAutoFit/>
          </a:bodyPr>
          <a:lstStyle/>
          <a:p>
            <a:pPr>
              <a:buNone/>
            </a:pPr>
            <a:r>
              <a:rPr lang="en-US" b="1" dirty="0"/>
              <a:t>Key Features:</a:t>
            </a:r>
          </a:p>
          <a:p>
            <a:pPr>
              <a:buNone/>
            </a:pPr>
            <a:endParaRPr lang="en-US" b="1" dirty="0"/>
          </a:p>
          <a:p>
            <a:pPr>
              <a:buFont typeface="Arial" panose="020B0604020202020204" pitchFamily="34" charset="0"/>
              <a:buChar char="•"/>
            </a:pPr>
            <a:r>
              <a:rPr lang="en-US" b="1" dirty="0"/>
              <a:t>Financial KPIs</a:t>
            </a:r>
            <a:r>
              <a:rPr lang="en-US" dirty="0"/>
              <a:t> (Total Delay Cost, Avg Cost per Delay)</a:t>
            </a:r>
          </a:p>
          <a:p>
            <a:pPr>
              <a:buFont typeface="Arial" panose="020B0604020202020204" pitchFamily="34" charset="0"/>
              <a:buChar char="•"/>
            </a:pPr>
            <a:r>
              <a:rPr lang="en-US" b="1" dirty="0"/>
              <a:t>Delay Analysis</a:t>
            </a:r>
            <a:r>
              <a:rPr lang="en-US" dirty="0"/>
              <a:t> (Reasons for delays, delay frequencies)</a:t>
            </a:r>
          </a:p>
          <a:p>
            <a:pPr>
              <a:buFont typeface="Arial" panose="020B0604020202020204" pitchFamily="34" charset="0"/>
              <a:buChar char="•"/>
            </a:pPr>
            <a:r>
              <a:rPr lang="en-US" b="1" dirty="0"/>
              <a:t>Ticket Class Insights</a:t>
            </a:r>
            <a:r>
              <a:rPr lang="en-US" dirty="0"/>
              <a:t> (Standard vs. First Class sales)</a:t>
            </a:r>
          </a:p>
          <a:p>
            <a:pPr>
              <a:buFont typeface="Arial" panose="020B0604020202020204" pitchFamily="34" charset="0"/>
              <a:buChar char="•"/>
            </a:pPr>
            <a:r>
              <a:rPr lang="en-US" b="1" dirty="0"/>
              <a:t>Trips Monitoring</a:t>
            </a:r>
            <a:r>
              <a:rPr lang="en-US" dirty="0"/>
              <a:t> (Trip status and operational updates)</a:t>
            </a:r>
          </a:p>
        </p:txBody>
      </p:sp>
      <p:sp>
        <p:nvSpPr>
          <p:cNvPr id="12" name="TextBox 11">
            <a:extLst>
              <a:ext uri="{FF2B5EF4-FFF2-40B4-BE49-F238E27FC236}">
                <a16:creationId xmlns:a16="http://schemas.microsoft.com/office/drawing/2014/main" id="{7771A525-AE4F-2D10-8BB0-078101948262}"/>
              </a:ext>
            </a:extLst>
          </p:cNvPr>
          <p:cNvSpPr txBox="1"/>
          <p:nvPr/>
        </p:nvSpPr>
        <p:spPr>
          <a:xfrm>
            <a:off x="1216240" y="3818550"/>
            <a:ext cx="6098874" cy="2308324"/>
          </a:xfrm>
          <a:prstGeom prst="rect">
            <a:avLst/>
          </a:prstGeom>
          <a:noFill/>
        </p:spPr>
        <p:txBody>
          <a:bodyPr wrap="square">
            <a:spAutoFit/>
          </a:bodyPr>
          <a:lstStyle/>
          <a:p>
            <a:pPr>
              <a:buNone/>
            </a:pPr>
            <a:r>
              <a:rPr lang="en-US" b="1" dirty="0"/>
              <a:t>How Features Solve Problems:</a:t>
            </a:r>
          </a:p>
          <a:p>
            <a:pPr>
              <a:buNone/>
            </a:pPr>
            <a:endParaRPr lang="en-US" b="1" dirty="0"/>
          </a:p>
          <a:p>
            <a:pPr>
              <a:buFont typeface="Arial" panose="020B0604020202020204" pitchFamily="34" charset="0"/>
              <a:buChar char="•"/>
            </a:pPr>
            <a:r>
              <a:rPr lang="en-US" b="1" dirty="0"/>
              <a:t>Executives:</a:t>
            </a:r>
            <a:r>
              <a:rPr lang="en-US" dirty="0"/>
              <a:t> Control costs and improve budget planning.</a:t>
            </a:r>
          </a:p>
          <a:p>
            <a:pPr>
              <a:buFont typeface="Arial" panose="020B0604020202020204" pitchFamily="34" charset="0"/>
              <a:buChar char="•"/>
            </a:pPr>
            <a:r>
              <a:rPr lang="en-US" b="1" dirty="0"/>
              <a:t>Operations Managers:</a:t>
            </a:r>
            <a:r>
              <a:rPr lang="en-US" dirty="0"/>
              <a:t> Reduce delay causes and optimize schedules.</a:t>
            </a:r>
          </a:p>
          <a:p>
            <a:pPr>
              <a:buFont typeface="Arial" panose="020B0604020202020204" pitchFamily="34" charset="0"/>
              <a:buChar char="•"/>
            </a:pPr>
            <a:r>
              <a:rPr lang="en-US" b="1" dirty="0"/>
              <a:t>Customer Experience Teams:</a:t>
            </a:r>
            <a:r>
              <a:rPr lang="en-US" dirty="0"/>
              <a:t> Tailor services and promotions based on customer behavior.</a:t>
            </a:r>
          </a:p>
          <a:p>
            <a:pPr>
              <a:buFont typeface="Arial" panose="020B0604020202020204" pitchFamily="34" charset="0"/>
              <a:buChar char="•"/>
            </a:pPr>
            <a:r>
              <a:rPr lang="en-US" b="1" dirty="0"/>
              <a:t>Passengers:</a:t>
            </a:r>
            <a:r>
              <a:rPr lang="en-US" dirty="0"/>
              <a:t> Enjoy better service with fewer disruptions.</a:t>
            </a:r>
          </a:p>
        </p:txBody>
      </p:sp>
    </p:spTree>
    <p:extLst>
      <p:ext uri="{BB962C8B-B14F-4D97-AF65-F5344CB8AC3E}">
        <p14:creationId xmlns:p14="http://schemas.microsoft.com/office/powerpoint/2010/main" val="1432269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02551-4AB1-E260-FDE4-6F5C1482FDA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FBFCD80-6285-6A67-4F6B-092E6A4FB95D}"/>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EDB23FB-066F-6F99-B604-57CEF9588733}"/>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76DED41D-DDA0-8112-EFA3-C51F756D01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DD5574-9659-BE8F-DD98-0754B4D98B5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E7A47D81-BF60-1E8F-571B-9A563F4EEC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980EA6B0-DB7B-13A9-0A85-9D71CB669285}"/>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75B9BB98-F800-6AE9-F069-DC94679C2A29}"/>
              </a:ext>
            </a:extLst>
          </p:cNvPr>
          <p:cNvSpPr>
            <a:spLocks noGrp="1"/>
          </p:cNvSpPr>
          <p:nvPr>
            <p:ph type="sldNum" sz="quarter" idx="12"/>
          </p:nvPr>
        </p:nvSpPr>
        <p:spPr/>
        <p:txBody>
          <a:bodyPr/>
          <a:lstStyle/>
          <a:p>
            <a:fld id="{60A8E374-2977-4823-8073-360F0642C6DD}" type="slidenum">
              <a:rPr lang="en-US" smtClean="0">
                <a:solidFill>
                  <a:schemeClr val="bg1"/>
                </a:solidFill>
              </a:rPr>
              <a:t>7</a:t>
            </a:fld>
            <a:endParaRPr lang="en-US" dirty="0">
              <a:solidFill>
                <a:schemeClr val="bg1"/>
              </a:solidFill>
            </a:endParaRPr>
          </a:p>
        </p:txBody>
      </p:sp>
      <p:sp>
        <p:nvSpPr>
          <p:cNvPr id="14" name="Rectangle 13">
            <a:extLst>
              <a:ext uri="{FF2B5EF4-FFF2-40B4-BE49-F238E27FC236}">
                <a16:creationId xmlns:a16="http://schemas.microsoft.com/office/drawing/2014/main" id="{DCB55292-97D3-D2B0-B482-01593035E080}"/>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4AEB494E-7266-68A6-1D3C-531CE957A528}"/>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EECFFC8-FE88-2F85-9C46-4CFDB39B52D0}"/>
              </a:ext>
            </a:extLst>
          </p:cNvPr>
          <p:cNvSpPr txBox="1"/>
          <p:nvPr/>
        </p:nvSpPr>
        <p:spPr>
          <a:xfrm>
            <a:off x="1216240" y="1434796"/>
            <a:ext cx="4106258" cy="584775"/>
          </a:xfrm>
          <a:prstGeom prst="rect">
            <a:avLst/>
          </a:prstGeom>
          <a:noFill/>
        </p:spPr>
        <p:txBody>
          <a:bodyPr wrap="square" rtlCol="0">
            <a:spAutoFit/>
          </a:bodyPr>
          <a:lstStyle/>
          <a:p>
            <a:r>
              <a:rPr lang="en-US" sz="3200" b="1" dirty="0"/>
              <a:t>Data Structure</a:t>
            </a:r>
          </a:p>
        </p:txBody>
      </p:sp>
      <p:sp>
        <p:nvSpPr>
          <p:cNvPr id="4" name="TextBox 3">
            <a:extLst>
              <a:ext uri="{FF2B5EF4-FFF2-40B4-BE49-F238E27FC236}">
                <a16:creationId xmlns:a16="http://schemas.microsoft.com/office/drawing/2014/main" id="{7C6DFA4F-A8FB-EC25-1098-0BB26D70E13B}"/>
              </a:ext>
            </a:extLst>
          </p:cNvPr>
          <p:cNvSpPr txBox="1"/>
          <p:nvPr/>
        </p:nvSpPr>
        <p:spPr>
          <a:xfrm>
            <a:off x="1292523" y="2306833"/>
            <a:ext cx="6098874" cy="2031325"/>
          </a:xfrm>
          <a:prstGeom prst="rect">
            <a:avLst/>
          </a:prstGeom>
          <a:noFill/>
        </p:spPr>
        <p:txBody>
          <a:bodyPr wrap="square">
            <a:spAutoFit/>
          </a:bodyPr>
          <a:lstStyle/>
          <a:p>
            <a:pPr>
              <a:buNone/>
            </a:pPr>
            <a:r>
              <a:rPr lang="en-US" b="1" dirty="0"/>
              <a:t>Database Architecture:</a:t>
            </a:r>
          </a:p>
          <a:p>
            <a:pPr>
              <a:buFont typeface="Arial" panose="020B0604020202020204" pitchFamily="34" charset="0"/>
              <a:buChar char="•"/>
            </a:pPr>
            <a:r>
              <a:rPr lang="en-US" b="1" dirty="0"/>
              <a:t>Type:</a:t>
            </a:r>
            <a:br>
              <a:rPr lang="en-US" dirty="0"/>
            </a:br>
            <a:r>
              <a:rPr lang="en-US" dirty="0"/>
              <a:t>➔ </a:t>
            </a:r>
            <a:r>
              <a:rPr lang="en-US" i="1" dirty="0"/>
              <a:t>Relational Database (Star Schema)</a:t>
            </a:r>
            <a:br>
              <a:rPr lang="en-US" dirty="0"/>
            </a:br>
            <a:r>
              <a:rPr lang="en-US" dirty="0"/>
              <a:t>➔ Built inside </a:t>
            </a:r>
            <a:r>
              <a:rPr lang="en-US" b="1" dirty="0"/>
              <a:t>Power BI</a:t>
            </a:r>
            <a:r>
              <a:rPr lang="en-US" dirty="0"/>
              <a:t> using </a:t>
            </a:r>
            <a:r>
              <a:rPr lang="en-US" b="1" dirty="0"/>
              <a:t>Fact and Dimension Tables</a:t>
            </a:r>
            <a:r>
              <a:rPr lang="en-US" dirty="0"/>
              <a:t>.</a:t>
            </a:r>
          </a:p>
          <a:p>
            <a:pPr>
              <a:buFont typeface="Arial" panose="020B0604020202020204" pitchFamily="34" charset="0"/>
              <a:buChar char="•"/>
            </a:pPr>
            <a:r>
              <a:rPr lang="en-US" b="1" dirty="0"/>
              <a:t>Why Relational?</a:t>
            </a:r>
            <a:br>
              <a:rPr lang="en-US" dirty="0"/>
            </a:br>
            <a:r>
              <a:rPr lang="en-US" dirty="0"/>
              <a:t>➔ To ensure efficient querying, clear relationships, and scalable reporting.</a:t>
            </a:r>
          </a:p>
        </p:txBody>
      </p:sp>
    </p:spTree>
    <p:extLst>
      <p:ext uri="{BB962C8B-B14F-4D97-AF65-F5344CB8AC3E}">
        <p14:creationId xmlns:p14="http://schemas.microsoft.com/office/powerpoint/2010/main" val="2026312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C4926-F9A5-6C68-4030-CB3E159FB79E}"/>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04003027-4F36-0F60-3035-13F2651B9F20}"/>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48AB528-24E9-2470-0462-6CA76B07F449}"/>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26C2B5F-BB8E-F914-0127-899D646D1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AD1926A-6CB2-F1F1-D4E1-4A1541E5D49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F874B00C-8562-4850-8EE5-D02495BA6E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B662DF16-740D-034D-82BC-9B95D4454215}"/>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F257FFE6-EDDE-A025-8826-46CF0B3BDF40}"/>
              </a:ext>
            </a:extLst>
          </p:cNvPr>
          <p:cNvSpPr>
            <a:spLocks noGrp="1"/>
          </p:cNvSpPr>
          <p:nvPr>
            <p:ph type="sldNum" sz="quarter" idx="12"/>
          </p:nvPr>
        </p:nvSpPr>
        <p:spPr/>
        <p:txBody>
          <a:bodyPr/>
          <a:lstStyle/>
          <a:p>
            <a:fld id="{60A8E374-2977-4823-8073-360F0642C6DD}" type="slidenum">
              <a:rPr lang="en-US" smtClean="0">
                <a:solidFill>
                  <a:schemeClr val="bg1"/>
                </a:solidFill>
              </a:rPr>
              <a:t>8</a:t>
            </a:fld>
            <a:endParaRPr lang="en-US" dirty="0">
              <a:solidFill>
                <a:schemeClr val="bg1"/>
              </a:solidFill>
            </a:endParaRPr>
          </a:p>
        </p:txBody>
      </p:sp>
      <p:sp>
        <p:nvSpPr>
          <p:cNvPr id="14" name="Rectangle 13">
            <a:extLst>
              <a:ext uri="{FF2B5EF4-FFF2-40B4-BE49-F238E27FC236}">
                <a16:creationId xmlns:a16="http://schemas.microsoft.com/office/drawing/2014/main" id="{23114129-0289-606E-F005-4126B7344ABE}"/>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29138394-53AD-024C-AD4F-1FD567B8DA2F}"/>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9979E80-7B96-2FFA-A498-96B7E1FDB9A7}"/>
              </a:ext>
            </a:extLst>
          </p:cNvPr>
          <p:cNvSpPr txBox="1"/>
          <p:nvPr/>
        </p:nvSpPr>
        <p:spPr>
          <a:xfrm>
            <a:off x="1216240" y="1434796"/>
            <a:ext cx="4106258" cy="584775"/>
          </a:xfrm>
          <a:prstGeom prst="rect">
            <a:avLst/>
          </a:prstGeom>
          <a:noFill/>
        </p:spPr>
        <p:txBody>
          <a:bodyPr wrap="square" rtlCol="0">
            <a:spAutoFit/>
          </a:bodyPr>
          <a:lstStyle/>
          <a:p>
            <a:r>
              <a:rPr lang="en-US" sz="3200" b="1" dirty="0"/>
              <a:t>Data Structure</a:t>
            </a:r>
          </a:p>
        </p:txBody>
      </p:sp>
      <p:sp>
        <p:nvSpPr>
          <p:cNvPr id="18" name="TextBox 17">
            <a:extLst>
              <a:ext uri="{FF2B5EF4-FFF2-40B4-BE49-F238E27FC236}">
                <a16:creationId xmlns:a16="http://schemas.microsoft.com/office/drawing/2014/main" id="{4EF1B40A-822F-5FC6-5082-D30CEBF723B8}"/>
              </a:ext>
            </a:extLst>
          </p:cNvPr>
          <p:cNvSpPr txBox="1"/>
          <p:nvPr/>
        </p:nvSpPr>
        <p:spPr>
          <a:xfrm>
            <a:off x="1216240" y="2208540"/>
            <a:ext cx="10481179" cy="3139321"/>
          </a:xfrm>
          <a:prstGeom prst="rect">
            <a:avLst/>
          </a:prstGeom>
          <a:noFill/>
        </p:spPr>
        <p:txBody>
          <a:bodyPr wrap="square">
            <a:spAutoFit/>
          </a:bodyPr>
          <a:lstStyle/>
          <a:p>
            <a:r>
              <a:rPr lang="en-US" b="1" dirty="0"/>
              <a:t>Fact Table:</a:t>
            </a:r>
          </a:p>
          <a:p>
            <a:pPr marL="285750" indent="-285750">
              <a:buFont typeface="Arial" panose="020B0604020202020204" pitchFamily="34" charset="0"/>
              <a:buChar char="•"/>
            </a:pPr>
            <a:r>
              <a:rPr lang="en-US" dirty="0"/>
              <a:t>(Fact Transactions) Contains trip-level records like ticket sales, delays, prices</a:t>
            </a:r>
          </a:p>
          <a:p>
            <a:r>
              <a:rPr lang="en-US" b="1" dirty="0"/>
              <a:t>Dimension Tables:</a:t>
            </a:r>
          </a:p>
          <a:p>
            <a:pPr marL="285750" indent="-285750">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Arial Unicode MS"/>
              </a:rPr>
              <a:t>Dim Ticket</a:t>
            </a:r>
            <a:r>
              <a:rPr kumimoji="0" lang="en-US" altLang="en-US" b="0" i="0" u="none" strike="noStrike" cap="none" normalizeH="0" baseline="0" dirty="0">
                <a:ln>
                  <a:noFill/>
                </a:ln>
                <a:solidFill>
                  <a:schemeClr val="tx1"/>
                </a:solidFill>
                <a:effectLst/>
              </a:rPr>
              <a:t> (Ticket Class, Ticket Type)</a:t>
            </a:r>
            <a:endParaRPr lang="en-US" altLang="en-US" dirty="0">
              <a:latin typeface="Arial" panose="020B0604020202020204" pitchFamily="34" charset="0"/>
            </a:endParaRPr>
          </a:p>
          <a:p>
            <a:pPr marL="285750" indent="-285750">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Arial Unicode MS"/>
              </a:rPr>
              <a:t>Dim Buying Process</a:t>
            </a:r>
            <a:r>
              <a:rPr kumimoji="0" lang="en-US" altLang="en-US" b="0" i="0" u="none" strike="noStrike" cap="none" normalizeH="0" baseline="0" dirty="0">
                <a:ln>
                  <a:noFill/>
                </a:ln>
                <a:solidFill>
                  <a:schemeClr val="tx1"/>
                </a:solidFill>
                <a:effectLst/>
              </a:rPr>
              <a:t> (Purchase Type, Payment Method)</a:t>
            </a:r>
            <a:endParaRPr lang="en-US" altLang="en-US" dirty="0">
              <a:latin typeface="Arial" panose="020B0604020202020204" pitchFamily="34" charset="0"/>
            </a:endParaRPr>
          </a:p>
          <a:p>
            <a:pPr marL="285750" indent="-285750">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Arial Unicode MS"/>
              </a:rPr>
              <a:t>Dim Route</a:t>
            </a:r>
            <a:r>
              <a:rPr kumimoji="0" lang="en-US" altLang="en-US" b="0" i="0" u="none" strike="noStrike" cap="none" normalizeH="0" baseline="0" dirty="0">
                <a:ln>
                  <a:noFill/>
                </a:ln>
                <a:solidFill>
                  <a:schemeClr val="tx1"/>
                </a:solidFill>
                <a:effectLst/>
              </a:rPr>
              <a:t> (Departure and Arrival Stations)</a:t>
            </a:r>
            <a:endParaRPr lang="en-US" altLang="en-US" dirty="0">
              <a:latin typeface="Arial" panose="020B0604020202020204" pitchFamily="34" charset="0"/>
            </a:endParaRPr>
          </a:p>
          <a:p>
            <a:pPr marL="285750" indent="-285750">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Arial Unicode MS"/>
              </a:rPr>
              <a:t>Dim </a:t>
            </a:r>
            <a:r>
              <a:rPr kumimoji="0" lang="en-US" altLang="en-US" b="0" i="0" u="none" strike="noStrike" cap="none" normalizeH="0" baseline="0" dirty="0" err="1">
                <a:ln>
                  <a:noFill/>
                </a:ln>
                <a:solidFill>
                  <a:schemeClr val="tx1"/>
                </a:solidFill>
                <a:effectLst/>
                <a:latin typeface="Arial Unicode MS"/>
              </a:rPr>
              <a:t>Railcard</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Railcard</a:t>
            </a:r>
            <a:r>
              <a:rPr kumimoji="0" lang="en-US" altLang="en-US" b="0" i="0" u="none" strike="noStrike" cap="none" normalizeH="0" baseline="0" dirty="0">
                <a:ln>
                  <a:noFill/>
                </a:ln>
                <a:solidFill>
                  <a:schemeClr val="tx1"/>
                </a:solidFill>
                <a:effectLst/>
              </a:rPr>
              <a:t> information)</a:t>
            </a:r>
          </a:p>
          <a:p>
            <a:pPr marL="285750" indent="-285750">
              <a:buFont typeface="Wingdings" panose="05000000000000000000" pitchFamily="2" charset="2"/>
              <a:buChar char="v"/>
            </a:pPr>
            <a:r>
              <a:rPr kumimoji="0" lang="en-US" altLang="en-US" b="0" i="0" u="none" strike="noStrike" cap="none" normalizeH="0" baseline="0" dirty="0">
                <a:ln>
                  <a:noFill/>
                </a:ln>
                <a:solidFill>
                  <a:schemeClr val="tx1"/>
                </a:solidFill>
                <a:effectLst/>
                <a:latin typeface="Arial Unicode MS"/>
              </a:rPr>
              <a:t>Dim Calendar</a:t>
            </a:r>
            <a:r>
              <a:rPr kumimoji="0" lang="en-US" altLang="en-US" b="0" i="0" u="none" strike="noStrike" cap="none" normalizeH="0" baseline="0" dirty="0">
                <a:ln>
                  <a:noFill/>
                </a:ln>
                <a:solidFill>
                  <a:schemeClr val="tx1"/>
                </a:solidFill>
                <a:effectLst/>
              </a:rPr>
              <a:t> (Date details for analysis) </a:t>
            </a:r>
          </a:p>
          <a:p>
            <a:r>
              <a:rPr lang="en-US" b="1" dirty="0"/>
              <a:t>Relationships:</a:t>
            </a:r>
            <a:br>
              <a:rPr lang="en-US" dirty="0"/>
            </a:br>
            <a:r>
              <a:rPr lang="en-US" dirty="0"/>
              <a:t>	➔ Fact Transactions is linked to each dimension using </a:t>
            </a:r>
            <a:r>
              <a:rPr lang="en-US" b="1" dirty="0"/>
              <a:t>foreign keys</a:t>
            </a:r>
            <a:r>
              <a:rPr lang="en-US" dirty="0"/>
              <a:t> (surrogate IDs).</a:t>
            </a:r>
            <a:br>
              <a:rPr lang="en-US" dirty="0"/>
            </a:br>
            <a:r>
              <a:rPr lang="en-US" dirty="0"/>
              <a:t>	➔ Classic </a:t>
            </a:r>
            <a:r>
              <a:rPr lang="en-US" i="1" dirty="0"/>
              <a:t>one-to-many</a:t>
            </a:r>
            <a:r>
              <a:rPr lang="en-US" dirty="0"/>
              <a:t> relationships (one ticket class → many trips, one station → many trips, etc.)</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7863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83BB-D016-8E8C-4FF7-BBE26E4C298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63461D8D-6089-77BC-FBDE-8D92D942FF3F}"/>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B510D28-4B9A-B9CF-2CB8-1DC506716360}"/>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6F88BCAC-1BFE-85F7-6EBD-ABA9A691C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308B7AB-ED33-96EA-95BA-0F3473CD478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069A6FF8-FEB0-9475-7B42-FAED9BA76F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DEF4F47F-4C5C-130B-4675-DEF4A36A3976}"/>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C5A53C3D-5C9B-2538-49CB-4F5203DF078D}"/>
              </a:ext>
            </a:extLst>
          </p:cNvPr>
          <p:cNvSpPr>
            <a:spLocks noGrp="1"/>
          </p:cNvSpPr>
          <p:nvPr>
            <p:ph type="sldNum" sz="quarter" idx="12"/>
          </p:nvPr>
        </p:nvSpPr>
        <p:spPr/>
        <p:txBody>
          <a:bodyPr/>
          <a:lstStyle/>
          <a:p>
            <a:fld id="{60A8E374-2977-4823-8073-360F0642C6DD}" type="slidenum">
              <a:rPr lang="en-US" smtClean="0">
                <a:solidFill>
                  <a:schemeClr val="bg1"/>
                </a:solidFill>
              </a:rPr>
              <a:t>9</a:t>
            </a:fld>
            <a:endParaRPr lang="en-US" dirty="0">
              <a:solidFill>
                <a:schemeClr val="bg1"/>
              </a:solidFill>
            </a:endParaRPr>
          </a:p>
        </p:txBody>
      </p:sp>
      <p:sp>
        <p:nvSpPr>
          <p:cNvPr id="14" name="Rectangle 13">
            <a:extLst>
              <a:ext uri="{FF2B5EF4-FFF2-40B4-BE49-F238E27FC236}">
                <a16:creationId xmlns:a16="http://schemas.microsoft.com/office/drawing/2014/main" id="{376270BA-5697-7679-6952-B2AB6B07A322}"/>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30929A2F-032B-DF1C-6607-6DA7113806B6}"/>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4B88158-76DC-43D3-CDAC-ACDD30A8593A}"/>
              </a:ext>
            </a:extLst>
          </p:cNvPr>
          <p:cNvSpPr txBox="1"/>
          <p:nvPr/>
        </p:nvSpPr>
        <p:spPr>
          <a:xfrm>
            <a:off x="1216240" y="1434796"/>
            <a:ext cx="4106258" cy="584775"/>
          </a:xfrm>
          <a:prstGeom prst="rect">
            <a:avLst/>
          </a:prstGeom>
          <a:noFill/>
        </p:spPr>
        <p:txBody>
          <a:bodyPr wrap="square" rtlCol="0">
            <a:spAutoFit/>
          </a:bodyPr>
          <a:lstStyle/>
          <a:p>
            <a:r>
              <a:rPr lang="en-US" sz="3200" b="1" dirty="0"/>
              <a:t>Data Structure</a:t>
            </a:r>
          </a:p>
        </p:txBody>
      </p:sp>
      <p:sp>
        <p:nvSpPr>
          <p:cNvPr id="18" name="TextBox 17">
            <a:extLst>
              <a:ext uri="{FF2B5EF4-FFF2-40B4-BE49-F238E27FC236}">
                <a16:creationId xmlns:a16="http://schemas.microsoft.com/office/drawing/2014/main" id="{28F11865-F256-1830-1484-497A80F2033F}"/>
              </a:ext>
            </a:extLst>
          </p:cNvPr>
          <p:cNvSpPr txBox="1"/>
          <p:nvPr/>
        </p:nvSpPr>
        <p:spPr>
          <a:xfrm>
            <a:off x="1216240" y="1976030"/>
            <a:ext cx="10722718" cy="4247317"/>
          </a:xfrm>
          <a:prstGeom prst="rect">
            <a:avLst/>
          </a:prstGeom>
          <a:noFill/>
        </p:spPr>
        <p:txBody>
          <a:bodyPr wrap="square">
            <a:spAutoFit/>
          </a:bodyPr>
          <a:lstStyle/>
          <a:p>
            <a:pPr>
              <a:buNone/>
            </a:pPr>
            <a:r>
              <a:rPr lang="en-US" b="1" dirty="0"/>
              <a:t>Data Flow:</a:t>
            </a:r>
          </a:p>
          <a:p>
            <a:pPr>
              <a:buFont typeface="Arial" panose="020B0604020202020204" pitchFamily="34" charset="0"/>
              <a:buChar char="•"/>
            </a:pPr>
            <a:r>
              <a:rPr lang="en-US" b="1" dirty="0"/>
              <a:t>Data Source:</a:t>
            </a:r>
            <a:br>
              <a:rPr lang="en-US" dirty="0"/>
            </a:br>
            <a:r>
              <a:rPr lang="en-US" dirty="0"/>
              <a:t>	➔ CSV files containing railway transactions.</a:t>
            </a:r>
          </a:p>
          <a:p>
            <a:pPr>
              <a:buFont typeface="Arial" panose="020B0604020202020204" pitchFamily="34" charset="0"/>
              <a:buChar char="•"/>
            </a:pPr>
            <a:r>
              <a:rPr lang="en-US" b="1" dirty="0"/>
              <a:t>Data Collection &amp; Preparation:</a:t>
            </a:r>
            <a:br>
              <a:rPr lang="en-US" dirty="0"/>
            </a:br>
            <a:r>
              <a:rPr lang="en-US" dirty="0"/>
              <a:t>	➔ Loaded into </a:t>
            </a:r>
            <a:r>
              <a:rPr lang="en-US" b="1" dirty="0"/>
              <a:t>Power BI</a:t>
            </a:r>
            <a:r>
              <a:rPr lang="en-US" dirty="0"/>
              <a:t> through </a:t>
            </a:r>
            <a:r>
              <a:rPr lang="en-US" b="1" dirty="0"/>
              <a:t>Power Query</a:t>
            </a:r>
            <a:r>
              <a:rPr lang="en-US" dirty="0"/>
              <a:t>.</a:t>
            </a:r>
          </a:p>
          <a:p>
            <a:pPr>
              <a:buFont typeface="Arial" panose="020B0604020202020204" pitchFamily="34" charset="0"/>
              <a:buChar char="•"/>
            </a:pPr>
            <a:r>
              <a:rPr lang="en-US" b="1" dirty="0"/>
              <a:t>Data Cleaning Techniques:</a:t>
            </a:r>
            <a:br>
              <a:rPr lang="en-US" dirty="0"/>
            </a:br>
            <a:r>
              <a:rPr lang="en-US" dirty="0"/>
              <a:t>	➔ Corrected data types (dates, numbers).</a:t>
            </a:r>
            <a:br>
              <a:rPr lang="en-US" dirty="0"/>
            </a:br>
            <a:r>
              <a:rPr lang="en-US" dirty="0"/>
              <a:t>	➔ Filled missing "Reason for Delay" as "No Delay" for on-time trips.</a:t>
            </a:r>
            <a:br>
              <a:rPr lang="en-US" dirty="0"/>
            </a:br>
            <a:r>
              <a:rPr lang="en-US" dirty="0"/>
              <a:t>	➔ Managed nulls for canceled trips in arrival times.</a:t>
            </a:r>
            <a:br>
              <a:rPr lang="en-US" dirty="0"/>
            </a:br>
            <a:r>
              <a:rPr lang="en-US" dirty="0"/>
              <a:t>	➔ Removed duplicate records for data integrity.</a:t>
            </a:r>
          </a:p>
          <a:p>
            <a:pPr>
              <a:buFont typeface="Arial" panose="020B0604020202020204" pitchFamily="34" charset="0"/>
              <a:buChar char="•"/>
            </a:pPr>
            <a:r>
              <a:rPr lang="en-US" b="1" dirty="0"/>
              <a:t>Data Shape:</a:t>
            </a:r>
            <a:br>
              <a:rPr lang="en-US" dirty="0"/>
            </a:br>
            <a:r>
              <a:rPr lang="en-US" dirty="0"/>
              <a:t>	➔ </a:t>
            </a:r>
            <a:r>
              <a:rPr lang="en-US" b="1" dirty="0"/>
              <a:t>Fact Table:</a:t>
            </a:r>
            <a:r>
              <a:rPr lang="en-US" dirty="0"/>
              <a:t> 1.8M+ rows (large dataset)</a:t>
            </a:r>
            <a:br>
              <a:rPr lang="en-US" dirty="0"/>
            </a:br>
            <a:r>
              <a:rPr lang="en-US" dirty="0"/>
              <a:t>	➔ </a:t>
            </a:r>
            <a:r>
              <a:rPr lang="en-US" b="1" dirty="0"/>
              <a:t>Balanced:</a:t>
            </a:r>
            <a:r>
              <a:rPr lang="en-US" dirty="0"/>
              <a:t> Dataset is slightly </a:t>
            </a:r>
            <a:r>
              <a:rPr lang="en-US" i="1" dirty="0"/>
              <a:t>imbalanced</a:t>
            </a:r>
            <a:r>
              <a:rPr lang="en-US" dirty="0"/>
              <a:t> (majority trips are on time; fewer delayed/canceled trips).</a:t>
            </a:r>
          </a:p>
          <a:p>
            <a:pPr>
              <a:buFont typeface="Arial" panose="020B0604020202020204" pitchFamily="34" charset="0"/>
              <a:buChar char="•"/>
            </a:pPr>
            <a:r>
              <a:rPr lang="en-US" b="1" dirty="0"/>
              <a:t>Model Storage:</a:t>
            </a:r>
            <a:br>
              <a:rPr lang="en-US" dirty="0"/>
            </a:br>
            <a:r>
              <a:rPr lang="en-US" dirty="0"/>
              <a:t>	➔ Stored as a Power BI project file (.</a:t>
            </a:r>
            <a:r>
              <a:rPr lang="en-US" dirty="0" err="1"/>
              <a:t>pbix</a:t>
            </a:r>
            <a:r>
              <a:rPr lang="en-US" dirty="0"/>
              <a:t>) with optimized tables for high-performance dashboards.</a:t>
            </a:r>
          </a:p>
        </p:txBody>
      </p:sp>
    </p:spTree>
    <p:extLst>
      <p:ext uri="{BB962C8B-B14F-4D97-AF65-F5344CB8AC3E}">
        <p14:creationId xmlns:p14="http://schemas.microsoft.com/office/powerpoint/2010/main" val="1175508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4F3F5-CBB0-4CCB-EB16-2BB0322D952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B5A3A86F-DB7A-263A-28F0-53B74B1F7C35}"/>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345DC69-9CCA-EAED-FE7D-DAFD76E73333}"/>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3C0B740F-5249-DF50-F1DD-A95989F466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8D23A26-0EAA-F9E7-9AD3-5FF53CDB068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29626E03-CDB3-2939-14EC-E0C2DB6061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CC368ED0-010F-DA9E-3AEC-AD46EC5464E5}"/>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6DC500FD-3F84-3C9C-7720-29E965347913}"/>
              </a:ext>
            </a:extLst>
          </p:cNvPr>
          <p:cNvSpPr>
            <a:spLocks noGrp="1"/>
          </p:cNvSpPr>
          <p:nvPr>
            <p:ph type="sldNum" sz="quarter" idx="12"/>
          </p:nvPr>
        </p:nvSpPr>
        <p:spPr/>
        <p:txBody>
          <a:bodyPr/>
          <a:lstStyle/>
          <a:p>
            <a:fld id="{60A8E374-2977-4823-8073-360F0642C6DD}" type="slidenum">
              <a:rPr lang="en-US" smtClean="0">
                <a:solidFill>
                  <a:schemeClr val="bg1"/>
                </a:solidFill>
              </a:rPr>
              <a:t>10</a:t>
            </a:fld>
            <a:endParaRPr lang="en-US" dirty="0">
              <a:solidFill>
                <a:schemeClr val="bg1"/>
              </a:solidFill>
            </a:endParaRPr>
          </a:p>
        </p:txBody>
      </p:sp>
      <p:sp>
        <p:nvSpPr>
          <p:cNvPr id="14" name="Rectangle 13">
            <a:extLst>
              <a:ext uri="{FF2B5EF4-FFF2-40B4-BE49-F238E27FC236}">
                <a16:creationId xmlns:a16="http://schemas.microsoft.com/office/drawing/2014/main" id="{CA5DCD6B-81C5-C1BA-DACE-C51C9547430C}"/>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ED219F62-63EB-8A6F-2FA7-C6289DAE8074}"/>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D2A3B64-E595-F913-6128-D0366400C921}"/>
              </a:ext>
            </a:extLst>
          </p:cNvPr>
          <p:cNvSpPr txBox="1"/>
          <p:nvPr/>
        </p:nvSpPr>
        <p:spPr>
          <a:xfrm>
            <a:off x="1216239" y="1434796"/>
            <a:ext cx="8540235" cy="584775"/>
          </a:xfrm>
          <a:prstGeom prst="rect">
            <a:avLst/>
          </a:prstGeom>
          <a:noFill/>
        </p:spPr>
        <p:txBody>
          <a:bodyPr wrap="square" rtlCol="0">
            <a:spAutoFit/>
          </a:bodyPr>
          <a:lstStyle/>
          <a:p>
            <a:r>
              <a:rPr lang="en-US" sz="3200" b="1" i="0" u="none" strike="noStrike" dirty="0">
                <a:solidFill>
                  <a:srgbClr val="0D0D0D"/>
                </a:solidFill>
                <a:effectLst/>
                <a:latin typeface="Arial" panose="020B0604020202020204" pitchFamily="34" charset="0"/>
              </a:rPr>
              <a:t>Programming Languages + Frameworks</a:t>
            </a:r>
            <a:endParaRPr lang="en-US" sz="3200" b="1" dirty="0"/>
          </a:p>
        </p:txBody>
      </p:sp>
      <p:sp>
        <p:nvSpPr>
          <p:cNvPr id="17" name="TextBox 16">
            <a:extLst>
              <a:ext uri="{FF2B5EF4-FFF2-40B4-BE49-F238E27FC236}">
                <a16:creationId xmlns:a16="http://schemas.microsoft.com/office/drawing/2014/main" id="{FC67B356-06C7-D7C8-4D2C-47CC26BFC569}"/>
              </a:ext>
            </a:extLst>
          </p:cNvPr>
          <p:cNvSpPr txBox="1"/>
          <p:nvPr/>
        </p:nvSpPr>
        <p:spPr>
          <a:xfrm>
            <a:off x="1250744" y="1979498"/>
            <a:ext cx="9282109" cy="3693319"/>
          </a:xfrm>
          <a:prstGeom prst="rect">
            <a:avLst/>
          </a:prstGeom>
          <a:noFill/>
        </p:spPr>
        <p:txBody>
          <a:bodyPr wrap="square">
            <a:spAutoFit/>
          </a:bodyPr>
          <a:lstStyle/>
          <a:p>
            <a:pPr>
              <a:buNone/>
            </a:pPr>
            <a:r>
              <a:rPr lang="en-US" b="1" dirty="0"/>
              <a:t>Programming Languages:</a:t>
            </a:r>
          </a:p>
          <a:p>
            <a:pPr>
              <a:buFont typeface="Arial" panose="020B0604020202020204" pitchFamily="34" charset="0"/>
              <a:buChar char="•"/>
            </a:pPr>
            <a:r>
              <a:rPr lang="en-US" b="1" dirty="0"/>
              <a:t>DAX (Data Analysis Expressions):</a:t>
            </a:r>
            <a:br>
              <a:rPr lang="en-US" dirty="0"/>
            </a:br>
            <a:r>
              <a:rPr lang="en-US" dirty="0"/>
              <a:t>	➔ Used for creating custom measures and calculations in Power BI.</a:t>
            </a:r>
          </a:p>
          <a:p>
            <a:pPr>
              <a:buFont typeface="Arial" panose="020B0604020202020204" pitchFamily="34" charset="0"/>
              <a:buChar char="•"/>
            </a:pPr>
            <a:r>
              <a:rPr lang="en-US" b="1" dirty="0"/>
              <a:t>M Language (Power Query Formula Language):</a:t>
            </a:r>
            <a:br>
              <a:rPr lang="en-US" dirty="0"/>
            </a:br>
            <a:r>
              <a:rPr lang="en-US" dirty="0"/>
              <a:t>	➔ Used for data transformation and cleaning inside Power BI.</a:t>
            </a:r>
          </a:p>
          <a:p>
            <a:endParaRPr lang="en-US" dirty="0"/>
          </a:p>
          <a:p>
            <a:pPr>
              <a:buNone/>
            </a:pPr>
            <a:r>
              <a:rPr lang="en-US" b="1" dirty="0"/>
              <a:t>Frameworks / Tools:</a:t>
            </a:r>
          </a:p>
          <a:p>
            <a:pPr>
              <a:buFont typeface="Arial" panose="020B0604020202020204" pitchFamily="34" charset="0"/>
              <a:buChar char="•"/>
            </a:pPr>
            <a:r>
              <a:rPr lang="en-US" b="1" dirty="0"/>
              <a:t>Power BI Desktop:</a:t>
            </a:r>
            <a:br>
              <a:rPr lang="en-US" dirty="0"/>
            </a:br>
            <a:r>
              <a:rPr lang="en-US" dirty="0"/>
              <a:t>	➔ Main platform for building dashboards, visualizations, and reports.</a:t>
            </a:r>
          </a:p>
          <a:p>
            <a:pPr>
              <a:buFont typeface="Arial" panose="020B0604020202020204" pitchFamily="34" charset="0"/>
              <a:buChar char="•"/>
            </a:pPr>
            <a:r>
              <a:rPr lang="en-US" b="1" dirty="0"/>
              <a:t>Power Query Editor:</a:t>
            </a:r>
            <a:br>
              <a:rPr lang="en-US" dirty="0"/>
            </a:br>
            <a:r>
              <a:rPr lang="en-US" dirty="0"/>
              <a:t>	➔ Used for ETL (Extract, Transform, Load) processes (data cleaning, shaping, loading).</a:t>
            </a:r>
          </a:p>
          <a:p>
            <a:pPr>
              <a:buFont typeface="Arial" panose="020B0604020202020204" pitchFamily="34" charset="0"/>
              <a:buChar char="•"/>
            </a:pPr>
            <a:r>
              <a:rPr lang="en-US" b="1" dirty="0"/>
              <a:t>Power BI Data Modeling:</a:t>
            </a:r>
            <a:br>
              <a:rPr lang="en-US" dirty="0"/>
            </a:br>
            <a:r>
              <a:rPr lang="en-US" dirty="0"/>
              <a:t>	➔ For building the Star Schema and relationships.</a:t>
            </a:r>
          </a:p>
        </p:txBody>
      </p:sp>
    </p:spTree>
    <p:extLst>
      <p:ext uri="{BB962C8B-B14F-4D97-AF65-F5344CB8AC3E}">
        <p14:creationId xmlns:p14="http://schemas.microsoft.com/office/powerpoint/2010/main" val="1173007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363CA-814D-176E-D402-05BE1A83B8A5}"/>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382A102E-1AE6-26B0-3503-EA89C2D68C26}"/>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4E80A6-4F13-725D-D96C-E89A9A8D6D30}"/>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18CC6685-0B4E-2E42-EFB0-1EB74C8728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B2451EA-B661-A16F-FD5F-1F122DC7D327}"/>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A80DD301-7CFF-D719-2DB0-D6AFD504B57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381818C6-CB45-573A-A02C-DCA2C059BC58}"/>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9A92D5C1-2EDD-1514-DBC3-934D1C134A85}"/>
              </a:ext>
            </a:extLst>
          </p:cNvPr>
          <p:cNvSpPr>
            <a:spLocks noGrp="1"/>
          </p:cNvSpPr>
          <p:nvPr>
            <p:ph type="sldNum" sz="quarter" idx="12"/>
          </p:nvPr>
        </p:nvSpPr>
        <p:spPr/>
        <p:txBody>
          <a:bodyPr/>
          <a:lstStyle/>
          <a:p>
            <a:fld id="{60A8E374-2977-4823-8073-360F0642C6DD}" type="slidenum">
              <a:rPr lang="en-US" smtClean="0">
                <a:solidFill>
                  <a:schemeClr val="bg1"/>
                </a:solidFill>
              </a:rPr>
              <a:t>11</a:t>
            </a:fld>
            <a:endParaRPr lang="en-US" dirty="0">
              <a:solidFill>
                <a:schemeClr val="bg1"/>
              </a:solidFill>
            </a:endParaRPr>
          </a:p>
        </p:txBody>
      </p:sp>
      <p:sp>
        <p:nvSpPr>
          <p:cNvPr id="14" name="Rectangle 13">
            <a:extLst>
              <a:ext uri="{FF2B5EF4-FFF2-40B4-BE49-F238E27FC236}">
                <a16:creationId xmlns:a16="http://schemas.microsoft.com/office/drawing/2014/main" id="{12440B87-D15F-E995-2134-EE8203350657}"/>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10DD41AC-873C-B89B-E5E4-484BADA04E29}"/>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ACE60DB-3E9B-D7FD-661E-A6049D5D280A}"/>
              </a:ext>
            </a:extLst>
          </p:cNvPr>
          <p:cNvSpPr txBox="1"/>
          <p:nvPr/>
        </p:nvSpPr>
        <p:spPr>
          <a:xfrm>
            <a:off x="1216239" y="1434796"/>
            <a:ext cx="8540235" cy="584775"/>
          </a:xfrm>
          <a:prstGeom prst="rect">
            <a:avLst/>
          </a:prstGeom>
          <a:noFill/>
        </p:spPr>
        <p:txBody>
          <a:bodyPr wrap="square" rtlCol="0">
            <a:spAutoFit/>
          </a:bodyPr>
          <a:lstStyle/>
          <a:p>
            <a:r>
              <a:rPr lang="en-US" sz="3200" b="1" i="0" u="none" strike="noStrike" dirty="0">
                <a:solidFill>
                  <a:srgbClr val="0D0D0D"/>
                </a:solidFill>
                <a:effectLst/>
                <a:latin typeface="Arial" panose="020B0604020202020204" pitchFamily="34" charset="0"/>
              </a:rPr>
              <a:t>Programming Languages + Frameworks</a:t>
            </a:r>
            <a:endParaRPr lang="en-US" sz="3200" b="1" dirty="0"/>
          </a:p>
        </p:txBody>
      </p:sp>
      <p:sp>
        <p:nvSpPr>
          <p:cNvPr id="17" name="TextBox 16">
            <a:extLst>
              <a:ext uri="{FF2B5EF4-FFF2-40B4-BE49-F238E27FC236}">
                <a16:creationId xmlns:a16="http://schemas.microsoft.com/office/drawing/2014/main" id="{1F7D39C3-4C45-380D-2596-C09C7CBB931D}"/>
              </a:ext>
            </a:extLst>
          </p:cNvPr>
          <p:cNvSpPr txBox="1"/>
          <p:nvPr/>
        </p:nvSpPr>
        <p:spPr>
          <a:xfrm>
            <a:off x="1216239" y="2366465"/>
            <a:ext cx="9282109" cy="2308324"/>
          </a:xfrm>
          <a:prstGeom prst="rect">
            <a:avLst/>
          </a:prstGeom>
          <a:noFill/>
        </p:spPr>
        <p:txBody>
          <a:bodyPr wrap="square">
            <a:spAutoFit/>
          </a:bodyPr>
          <a:lstStyle/>
          <a:p>
            <a:pPr>
              <a:buNone/>
            </a:pPr>
            <a:r>
              <a:rPr lang="en-US" b="1" dirty="0"/>
              <a:t>Supporting Technologies:</a:t>
            </a:r>
          </a:p>
          <a:p>
            <a:pPr>
              <a:buNone/>
            </a:pPr>
            <a:endParaRPr lang="en-US" b="1" dirty="0"/>
          </a:p>
          <a:p>
            <a:pPr>
              <a:buFont typeface="Arial" panose="020B0604020202020204" pitchFamily="34" charset="0"/>
              <a:buChar char="•"/>
            </a:pPr>
            <a:r>
              <a:rPr lang="en-US" b="1" dirty="0"/>
              <a:t>CSV Files:</a:t>
            </a:r>
            <a:br>
              <a:rPr lang="en-US" dirty="0"/>
            </a:br>
            <a:r>
              <a:rPr lang="en-US" dirty="0"/>
              <a:t>	➔ Source data format used for the project.</a:t>
            </a:r>
          </a:p>
          <a:p>
            <a:pPr>
              <a:buFont typeface="Arial" panose="020B0604020202020204" pitchFamily="34" charset="0"/>
              <a:buChar char="•"/>
            </a:pPr>
            <a:r>
              <a:rPr lang="en-US" b="1" dirty="0"/>
              <a:t>Star Schema Architecture:</a:t>
            </a:r>
            <a:br>
              <a:rPr lang="en-US" dirty="0"/>
            </a:br>
            <a:r>
              <a:rPr lang="en-US" dirty="0"/>
              <a:t>	➔ For efficient relational data modeling.</a:t>
            </a:r>
          </a:p>
          <a:p>
            <a:pPr>
              <a:buFont typeface="Arial" panose="020B0604020202020204" pitchFamily="34" charset="0"/>
              <a:buChar char="•"/>
            </a:pPr>
            <a:r>
              <a:rPr lang="en-US" b="1" dirty="0"/>
              <a:t>Microsoft Power BI Services (Optional if published):</a:t>
            </a:r>
            <a:br>
              <a:rPr lang="en-US" dirty="0"/>
            </a:br>
            <a:r>
              <a:rPr lang="en-US" dirty="0"/>
              <a:t>	➔ For sharing and deploying dashboards online (only if you published it).</a:t>
            </a:r>
          </a:p>
        </p:txBody>
      </p:sp>
    </p:spTree>
    <p:extLst>
      <p:ext uri="{BB962C8B-B14F-4D97-AF65-F5344CB8AC3E}">
        <p14:creationId xmlns:p14="http://schemas.microsoft.com/office/powerpoint/2010/main" val="1020025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F6126-B847-9F2D-806E-87EC2D8E7E4C}"/>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01A96F4-68AC-624F-2FE3-5AE639FE836F}"/>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A26AEC4-449D-8B66-C6DF-E1D09C03ECB7}"/>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7063FF40-9FBE-9AEC-97B4-3496FBA45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39423F8-DEA5-3BD3-DBE8-FE71E7C33E0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D3A598EB-C3E2-38BC-FF96-B2784837B7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D359500B-A94C-A972-8652-DD8FDD585703}"/>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8E7C66E5-C166-715A-AB5C-ED0F8240F39E}"/>
              </a:ext>
            </a:extLst>
          </p:cNvPr>
          <p:cNvSpPr>
            <a:spLocks noGrp="1"/>
          </p:cNvSpPr>
          <p:nvPr>
            <p:ph type="sldNum" sz="quarter" idx="12"/>
          </p:nvPr>
        </p:nvSpPr>
        <p:spPr/>
        <p:txBody>
          <a:bodyPr/>
          <a:lstStyle/>
          <a:p>
            <a:fld id="{60A8E374-2977-4823-8073-360F0642C6DD}" type="slidenum">
              <a:rPr lang="en-US" smtClean="0">
                <a:solidFill>
                  <a:schemeClr val="bg1"/>
                </a:solidFill>
              </a:rPr>
              <a:t>12</a:t>
            </a:fld>
            <a:endParaRPr lang="en-US" dirty="0">
              <a:solidFill>
                <a:schemeClr val="bg1"/>
              </a:solidFill>
            </a:endParaRPr>
          </a:p>
        </p:txBody>
      </p:sp>
      <p:sp>
        <p:nvSpPr>
          <p:cNvPr id="14" name="Rectangle 13">
            <a:extLst>
              <a:ext uri="{FF2B5EF4-FFF2-40B4-BE49-F238E27FC236}">
                <a16:creationId xmlns:a16="http://schemas.microsoft.com/office/drawing/2014/main" id="{EAEE1BAF-E320-0AE2-57C2-5FC4D5FE14D9}"/>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6F6B8A08-89B1-E6D1-43DA-FDE2FA76BD80}"/>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50AE5C0-76E1-D427-F6CF-33BC9A71661B}"/>
              </a:ext>
            </a:extLst>
          </p:cNvPr>
          <p:cNvSpPr txBox="1"/>
          <p:nvPr/>
        </p:nvSpPr>
        <p:spPr>
          <a:xfrm>
            <a:off x="898403" y="1339118"/>
            <a:ext cx="2432734" cy="584775"/>
          </a:xfrm>
          <a:prstGeom prst="rect">
            <a:avLst/>
          </a:prstGeom>
          <a:noFill/>
        </p:spPr>
        <p:txBody>
          <a:bodyPr wrap="square" rtlCol="0">
            <a:spAutoFit/>
          </a:bodyPr>
          <a:lstStyle/>
          <a:p>
            <a:r>
              <a:rPr lang="en-US" sz="3200" b="1" dirty="0"/>
              <a:t>Deliverables</a:t>
            </a:r>
          </a:p>
        </p:txBody>
      </p:sp>
      <p:pic>
        <p:nvPicPr>
          <p:cNvPr id="10" name="Picture 9">
            <a:extLst>
              <a:ext uri="{FF2B5EF4-FFF2-40B4-BE49-F238E27FC236}">
                <a16:creationId xmlns:a16="http://schemas.microsoft.com/office/drawing/2014/main" id="{CF03127B-6656-5891-BE3E-87050F843597}"/>
              </a:ext>
            </a:extLst>
          </p:cNvPr>
          <p:cNvPicPr>
            <a:picLocks noChangeAspect="1"/>
          </p:cNvPicPr>
          <p:nvPr/>
        </p:nvPicPr>
        <p:blipFill>
          <a:blip r:embed="rId6"/>
          <a:stretch>
            <a:fillRect/>
          </a:stretch>
        </p:blipFill>
        <p:spPr>
          <a:xfrm>
            <a:off x="7518322" y="2371288"/>
            <a:ext cx="4524726" cy="2631057"/>
          </a:xfrm>
          <a:prstGeom prst="roundRect">
            <a:avLst>
              <a:gd name="adj" fmla="val 16667"/>
            </a:avLst>
          </a:prstGeom>
          <a:ln w="38100">
            <a:solidFill>
              <a:schemeClr val="accent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2" name="TextBox 31">
            <a:extLst>
              <a:ext uri="{FF2B5EF4-FFF2-40B4-BE49-F238E27FC236}">
                <a16:creationId xmlns:a16="http://schemas.microsoft.com/office/drawing/2014/main" id="{C779A1B6-CDCC-79F4-441A-BDD8B61D5814}"/>
              </a:ext>
            </a:extLst>
          </p:cNvPr>
          <p:cNvSpPr txBox="1"/>
          <p:nvPr/>
        </p:nvSpPr>
        <p:spPr>
          <a:xfrm>
            <a:off x="898403" y="2102562"/>
            <a:ext cx="6678686" cy="3416320"/>
          </a:xfrm>
          <a:prstGeom prst="rect">
            <a:avLst/>
          </a:prstGeom>
          <a:noFill/>
        </p:spPr>
        <p:txBody>
          <a:bodyPr wrap="square">
            <a:spAutoFit/>
          </a:bodyPr>
          <a:lstStyle/>
          <a:p>
            <a:pPr>
              <a:buNone/>
            </a:pPr>
            <a:r>
              <a:rPr lang="en-US" b="1" dirty="0"/>
              <a:t>Reports &amp; Documentation:</a:t>
            </a:r>
          </a:p>
          <a:p>
            <a:pPr>
              <a:buFont typeface="Arial" panose="020B0604020202020204" pitchFamily="34" charset="0"/>
              <a:buChar char="•"/>
            </a:pPr>
            <a:r>
              <a:rPr lang="en-US" b="1" dirty="0"/>
              <a:t>Technical Report:</a:t>
            </a:r>
            <a:br>
              <a:rPr lang="en-US" dirty="0"/>
            </a:br>
            <a:r>
              <a:rPr lang="en-US" dirty="0"/>
              <a:t>	➔ Detailed project overview, problem statement, 	objectives, methods, and findings.</a:t>
            </a:r>
          </a:p>
          <a:p>
            <a:pPr>
              <a:buFont typeface="Arial" panose="020B0604020202020204" pitchFamily="34" charset="0"/>
              <a:buChar char="•"/>
            </a:pPr>
            <a:r>
              <a:rPr lang="en-US" b="1" dirty="0"/>
              <a:t>Power BI Dashboards:</a:t>
            </a:r>
            <a:br>
              <a:rPr lang="en-US" dirty="0"/>
            </a:br>
            <a:r>
              <a:rPr lang="en-US" dirty="0"/>
              <a:t>	➔ Analytical, Strategic, and Operational dashboards for UK 	Train Rides.</a:t>
            </a:r>
          </a:p>
          <a:p>
            <a:pPr>
              <a:buFont typeface="Arial" panose="020B0604020202020204" pitchFamily="34" charset="0"/>
              <a:buChar char="•"/>
            </a:pPr>
            <a:r>
              <a:rPr lang="en-US" b="1" dirty="0"/>
              <a:t>Data Cleaning &amp; Modeling Documentation:</a:t>
            </a:r>
            <a:br>
              <a:rPr lang="en-US" dirty="0"/>
            </a:br>
            <a:r>
              <a:rPr lang="en-US" dirty="0"/>
              <a:t>	➔ Steps taken for data preparation (Power Query, Star 	Schema design).</a:t>
            </a:r>
          </a:p>
          <a:p>
            <a:pPr>
              <a:buFont typeface="Arial" panose="020B0604020202020204" pitchFamily="34" charset="0"/>
              <a:buChar char="•"/>
            </a:pPr>
            <a:r>
              <a:rPr lang="en-US" b="1" dirty="0"/>
              <a:t>Power BI Measures Documentation:</a:t>
            </a:r>
            <a:br>
              <a:rPr lang="en-US" dirty="0"/>
            </a:br>
            <a:r>
              <a:rPr lang="en-US" dirty="0"/>
              <a:t>➔ Full list of DAX calculations used.</a:t>
            </a:r>
          </a:p>
        </p:txBody>
      </p:sp>
    </p:spTree>
    <p:extLst>
      <p:ext uri="{BB962C8B-B14F-4D97-AF65-F5344CB8AC3E}">
        <p14:creationId xmlns:p14="http://schemas.microsoft.com/office/powerpoint/2010/main" val="1623165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8A619-18E1-21B5-FF26-E1465A3CDF2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473AC16-7BE8-254A-1C08-FD4B158437F2}"/>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27C2A2-5911-DBC3-1B41-9BC0C819874E}"/>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D78DD5DE-2559-331F-8A82-8F87439040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3DA42E0-DDA3-8868-3F8E-9265B7F8731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265618A9-6004-9494-5FBD-3F3AF7C0A1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2077D049-2034-DE40-B60E-F88CB7E7F22F}"/>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D7F08372-317D-31F6-7150-29FB4EE14266}"/>
              </a:ext>
            </a:extLst>
          </p:cNvPr>
          <p:cNvSpPr>
            <a:spLocks noGrp="1"/>
          </p:cNvSpPr>
          <p:nvPr>
            <p:ph type="sldNum" sz="quarter" idx="12"/>
          </p:nvPr>
        </p:nvSpPr>
        <p:spPr/>
        <p:txBody>
          <a:bodyPr/>
          <a:lstStyle/>
          <a:p>
            <a:fld id="{60A8E374-2977-4823-8073-360F0642C6DD}" type="slidenum">
              <a:rPr lang="en-US" smtClean="0">
                <a:solidFill>
                  <a:schemeClr val="bg1"/>
                </a:solidFill>
              </a:rPr>
              <a:t>13</a:t>
            </a:fld>
            <a:endParaRPr lang="en-US" dirty="0">
              <a:solidFill>
                <a:schemeClr val="bg1"/>
              </a:solidFill>
            </a:endParaRPr>
          </a:p>
        </p:txBody>
      </p:sp>
      <p:sp>
        <p:nvSpPr>
          <p:cNvPr id="14" name="Rectangle 13">
            <a:extLst>
              <a:ext uri="{FF2B5EF4-FFF2-40B4-BE49-F238E27FC236}">
                <a16:creationId xmlns:a16="http://schemas.microsoft.com/office/drawing/2014/main" id="{007D62E3-4CE8-FD08-FC82-F913EA7417ED}"/>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40E914F5-FDE6-85A3-5884-3C888A53CD05}"/>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492C08B-70BF-F10D-723C-51ECC2D8C070}"/>
              </a:ext>
            </a:extLst>
          </p:cNvPr>
          <p:cNvSpPr txBox="1"/>
          <p:nvPr/>
        </p:nvSpPr>
        <p:spPr>
          <a:xfrm>
            <a:off x="1030856" y="1940307"/>
            <a:ext cx="8370095" cy="4031873"/>
          </a:xfrm>
          <a:prstGeom prst="rect">
            <a:avLst/>
          </a:prstGeom>
          <a:noFill/>
        </p:spPr>
        <p:txBody>
          <a:bodyPr wrap="square">
            <a:spAutoFit/>
          </a:bodyPr>
          <a:lstStyle/>
          <a:p>
            <a:pPr>
              <a:buNone/>
            </a:pPr>
            <a:r>
              <a:rPr lang="en-US" sz="1600" b="1" dirty="0"/>
              <a:t>Core Team Members &amp; Roles:</a:t>
            </a:r>
          </a:p>
          <a:p>
            <a:pPr>
              <a:buNone/>
            </a:pPr>
            <a:endParaRPr lang="en-US" sz="1600" b="1" dirty="0"/>
          </a:p>
          <a:p>
            <a:pPr>
              <a:buFont typeface="Arial" panose="020B0604020202020204" pitchFamily="34" charset="0"/>
              <a:buChar char="•"/>
            </a:pPr>
            <a:r>
              <a:rPr lang="en-US" sz="1600" b="1" dirty="0"/>
              <a:t>Mazen Moustafa Sayem Abdel-tawwab</a:t>
            </a:r>
            <a:br>
              <a:rPr lang="en-US" sz="1600" dirty="0"/>
            </a:br>
            <a:r>
              <a:rPr lang="en-US" sz="1600" dirty="0"/>
              <a:t>	➔ </a:t>
            </a:r>
            <a:r>
              <a:rPr lang="en-US" sz="1600" i="1" dirty="0"/>
              <a:t>Team Leader – Reporting and Documentation</a:t>
            </a:r>
          </a:p>
          <a:p>
            <a:pPr>
              <a:buFont typeface="Arial" panose="020B0604020202020204" pitchFamily="34" charset="0"/>
              <a:buChar char="•"/>
            </a:pPr>
            <a:endParaRPr lang="en-US" sz="1600" dirty="0"/>
          </a:p>
          <a:p>
            <a:pPr>
              <a:buFont typeface="Arial" panose="020B0604020202020204" pitchFamily="34" charset="0"/>
              <a:buChar char="•"/>
            </a:pPr>
            <a:r>
              <a:rPr lang="en-US" sz="1600" b="1" dirty="0"/>
              <a:t>Shahd Noman Esawy Esawy</a:t>
            </a:r>
            <a:br>
              <a:rPr lang="en-US" sz="1600" dirty="0"/>
            </a:br>
            <a:r>
              <a:rPr lang="en-US" sz="1600" dirty="0"/>
              <a:t>	➔ </a:t>
            </a:r>
            <a:r>
              <a:rPr lang="en-US" sz="1600" i="1" dirty="0"/>
              <a:t>Operational Dashboard Developer</a:t>
            </a:r>
          </a:p>
          <a:p>
            <a:pPr>
              <a:buFont typeface="Arial" panose="020B0604020202020204" pitchFamily="34" charset="0"/>
              <a:buChar char="•"/>
            </a:pPr>
            <a:endParaRPr lang="en-US" sz="1600" dirty="0"/>
          </a:p>
          <a:p>
            <a:pPr>
              <a:buFont typeface="Arial" panose="020B0604020202020204" pitchFamily="34" charset="0"/>
              <a:buChar char="•"/>
            </a:pPr>
            <a:r>
              <a:rPr lang="en-US" sz="1600" b="1" dirty="0"/>
              <a:t>Asmaa Salah Mohamed Alhady</a:t>
            </a:r>
            <a:br>
              <a:rPr lang="en-US" sz="1600" dirty="0"/>
            </a:br>
            <a:r>
              <a:rPr lang="en-US" sz="1600" dirty="0"/>
              <a:t>	➔ </a:t>
            </a:r>
            <a:r>
              <a:rPr lang="en-US" sz="1600" i="1" dirty="0"/>
              <a:t>Executive Dashboard Developer</a:t>
            </a:r>
          </a:p>
          <a:p>
            <a:pPr>
              <a:buFont typeface="Arial" panose="020B0604020202020204" pitchFamily="34" charset="0"/>
              <a:buChar char="•"/>
            </a:pPr>
            <a:endParaRPr lang="en-US" sz="1600" dirty="0"/>
          </a:p>
          <a:p>
            <a:pPr>
              <a:buFont typeface="Arial" panose="020B0604020202020204" pitchFamily="34" charset="0"/>
              <a:buChar char="•"/>
            </a:pPr>
            <a:r>
              <a:rPr lang="en-US" sz="1600" b="1" dirty="0"/>
              <a:t>Abdallh Mohamed Abdelmonem Soliman</a:t>
            </a:r>
            <a:br>
              <a:rPr lang="en-US" sz="1600" dirty="0"/>
            </a:br>
            <a:r>
              <a:rPr lang="en-US" sz="1600" dirty="0"/>
              <a:t>	➔ </a:t>
            </a:r>
            <a:r>
              <a:rPr lang="en-US" sz="1600" i="1" dirty="0"/>
              <a:t>Home Page and Recommendation Designer</a:t>
            </a:r>
          </a:p>
          <a:p>
            <a:pPr>
              <a:buFont typeface="Arial" panose="020B0604020202020204" pitchFamily="34" charset="0"/>
              <a:buChar char="•"/>
            </a:pPr>
            <a:endParaRPr lang="en-US" sz="1600" dirty="0"/>
          </a:p>
          <a:p>
            <a:pPr>
              <a:buFont typeface="Arial" panose="020B0604020202020204" pitchFamily="34" charset="0"/>
              <a:buChar char="•"/>
            </a:pPr>
            <a:r>
              <a:rPr lang="en-US" sz="1600" b="1" dirty="0"/>
              <a:t>Saif Mohammed Godah</a:t>
            </a:r>
            <a:br>
              <a:rPr lang="en-US" sz="1600" dirty="0"/>
            </a:br>
            <a:r>
              <a:rPr lang="en-US" sz="1600" dirty="0"/>
              <a:t>	➔ </a:t>
            </a:r>
            <a:r>
              <a:rPr lang="en-US" sz="1600" i="1" dirty="0"/>
              <a:t>Analytical Dashboard Developer</a:t>
            </a:r>
            <a:endParaRPr lang="en-US" sz="1600" dirty="0"/>
          </a:p>
        </p:txBody>
      </p:sp>
      <p:sp>
        <p:nvSpPr>
          <p:cNvPr id="10" name="TextBox 9">
            <a:extLst>
              <a:ext uri="{FF2B5EF4-FFF2-40B4-BE49-F238E27FC236}">
                <a16:creationId xmlns:a16="http://schemas.microsoft.com/office/drawing/2014/main" id="{491F5F41-540F-0DAF-8D20-89584A391DFA}"/>
              </a:ext>
            </a:extLst>
          </p:cNvPr>
          <p:cNvSpPr txBox="1"/>
          <p:nvPr/>
        </p:nvSpPr>
        <p:spPr>
          <a:xfrm>
            <a:off x="898403" y="1262241"/>
            <a:ext cx="5197597" cy="584775"/>
          </a:xfrm>
          <a:prstGeom prst="rect">
            <a:avLst/>
          </a:prstGeom>
          <a:noFill/>
        </p:spPr>
        <p:txBody>
          <a:bodyPr wrap="square" rtlCol="0">
            <a:spAutoFit/>
          </a:bodyPr>
          <a:lstStyle/>
          <a:p>
            <a:r>
              <a:rPr lang="en-US" sz="3200" b="1" i="0" u="none" strike="noStrike" dirty="0">
                <a:solidFill>
                  <a:srgbClr val="0D0D0D"/>
                </a:solidFill>
                <a:effectLst/>
                <a:latin typeface="Arial" panose="020B0604020202020204" pitchFamily="34" charset="0"/>
              </a:rPr>
              <a:t>Project Team + Roles</a:t>
            </a:r>
            <a:endParaRPr lang="en-US" sz="3200" b="1" dirty="0"/>
          </a:p>
        </p:txBody>
      </p:sp>
      <p:sp>
        <p:nvSpPr>
          <p:cNvPr id="16" name="TextBox 15">
            <a:extLst>
              <a:ext uri="{FF2B5EF4-FFF2-40B4-BE49-F238E27FC236}">
                <a16:creationId xmlns:a16="http://schemas.microsoft.com/office/drawing/2014/main" id="{E41B6788-62B0-DD72-46AB-A79F6E3481C2}"/>
              </a:ext>
            </a:extLst>
          </p:cNvPr>
          <p:cNvSpPr txBox="1"/>
          <p:nvPr/>
        </p:nvSpPr>
        <p:spPr>
          <a:xfrm>
            <a:off x="7181489" y="1940307"/>
            <a:ext cx="3489387" cy="4524315"/>
          </a:xfrm>
          <a:prstGeom prst="rect">
            <a:avLst/>
          </a:prstGeom>
          <a:noFill/>
        </p:spPr>
        <p:txBody>
          <a:bodyPr wrap="square">
            <a:spAutoFit/>
          </a:bodyPr>
          <a:lstStyle/>
          <a:p>
            <a:pPr>
              <a:buNone/>
            </a:pPr>
            <a:r>
              <a:rPr lang="en-US" b="1" dirty="0"/>
              <a:t>Key Responsibilities:</a:t>
            </a:r>
          </a:p>
          <a:p>
            <a:pPr>
              <a:buNone/>
            </a:pPr>
            <a:endParaRPr lang="en-US" b="1" dirty="0"/>
          </a:p>
          <a:p>
            <a:pPr>
              <a:buFont typeface="Arial" panose="020B0604020202020204" pitchFamily="34" charset="0"/>
              <a:buChar char="•"/>
            </a:pPr>
            <a:r>
              <a:rPr lang="en-US" dirty="0"/>
              <a:t>Creating specialized dashboards (Operational, Executive, Analytical).</a:t>
            </a:r>
          </a:p>
          <a:p>
            <a:endParaRPr lang="en-US" dirty="0"/>
          </a:p>
          <a:p>
            <a:pPr>
              <a:buFont typeface="Arial" panose="020B0604020202020204" pitchFamily="34" charset="0"/>
              <a:buChar char="•"/>
            </a:pPr>
            <a:r>
              <a:rPr lang="en-US" dirty="0"/>
              <a:t>Designing the Home page and final Recommendations section.</a:t>
            </a:r>
          </a:p>
          <a:p>
            <a:endParaRPr lang="en-US" dirty="0"/>
          </a:p>
          <a:p>
            <a:pPr>
              <a:buFont typeface="Arial" panose="020B0604020202020204" pitchFamily="34" charset="0"/>
              <a:buChar char="•"/>
            </a:pPr>
            <a:r>
              <a:rPr lang="en-US" dirty="0"/>
              <a:t>Writing the Technical Report and project Documentation.</a:t>
            </a:r>
          </a:p>
          <a:p>
            <a:endParaRPr lang="en-US" dirty="0"/>
          </a:p>
          <a:p>
            <a:pPr>
              <a:buFont typeface="Arial" panose="020B0604020202020204" pitchFamily="34" charset="0"/>
              <a:buChar char="•"/>
            </a:pPr>
            <a:r>
              <a:rPr lang="en-US" dirty="0"/>
              <a:t>Ensuring alignment between design, analysis, and reporting.</a:t>
            </a:r>
          </a:p>
          <a:p>
            <a:endParaRPr lang="en-US" dirty="0"/>
          </a:p>
          <a:p>
            <a:pPr>
              <a:buFont typeface="Arial" panose="020B0604020202020204" pitchFamily="34" charset="0"/>
              <a:buChar char="•"/>
            </a:pPr>
            <a:r>
              <a:rPr lang="en-US" b="1" dirty="0"/>
              <a:t>Communication Tools:</a:t>
            </a:r>
            <a:r>
              <a:rPr lang="en-US" dirty="0"/>
              <a:t> WhatsApp, GitHub, Google Drive, Zoom</a:t>
            </a:r>
          </a:p>
        </p:txBody>
      </p:sp>
    </p:spTree>
    <p:extLst>
      <p:ext uri="{BB962C8B-B14F-4D97-AF65-F5344CB8AC3E}">
        <p14:creationId xmlns:p14="http://schemas.microsoft.com/office/powerpoint/2010/main" val="22260159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EDE76-587A-23B7-52E8-E3C5CB185A3D}"/>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467F686-5173-F62E-C088-483389ED6D10}"/>
              </a:ext>
            </a:extLst>
          </p:cNvPr>
          <p:cNvSpPr/>
          <p:nvPr/>
        </p:nvSpPr>
        <p:spPr>
          <a:xfrm>
            <a:off x="772467" y="6330833"/>
            <a:ext cx="2496943"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8B3113A-979E-EA78-64E9-7440687B40F6}"/>
              </a:ext>
            </a:extLst>
          </p:cNvPr>
          <p:cNvSpPr/>
          <p:nvPr/>
        </p:nvSpPr>
        <p:spPr>
          <a:xfrm>
            <a:off x="11028468" y="6339936"/>
            <a:ext cx="391064" cy="391064"/>
          </a:xfrm>
          <a:prstGeom prst="rect">
            <a:avLst/>
          </a:prstGeom>
          <a:solidFill>
            <a:srgbClr val="1C5A9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5F09281E-4FD8-AA42-057D-F59B5595F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3948" y="6330833"/>
            <a:ext cx="858578" cy="3470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01D67F8-67B8-2528-6EB4-7F78403ADBF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52889" y1="29018" x2="52889" y2="29018"/>
                        <a14:foregroundMark x1="50222" y1="18304" x2="50222" y2="18304"/>
                        <a14:foregroundMark x1="63111" y1="20536" x2="63111" y2="20536"/>
                        <a14:foregroundMark x1="30222" y1="74107" x2="30222" y2="74107"/>
                        <a14:foregroundMark x1="34222" y1="71429" x2="34222" y2="71429"/>
                        <a14:foregroundMark x1="36000" y1="70982" x2="36000" y2="70982"/>
                        <a14:foregroundMark x1="23556" y1="79018" x2="23556" y2="79018"/>
                        <a14:foregroundMark x1="21333" y1="79464" x2="21333" y2="79464"/>
                        <a14:foregroundMark x1="16889" y1="71429" x2="16889" y2="71429"/>
                        <a14:foregroundMark x1="17778" y1="71429" x2="17778" y2="71429"/>
                        <a14:foregroundMark x1="44000" y1="72768" x2="44000" y2="72768"/>
                        <a14:foregroundMark x1="46222" y1="72321" x2="46222" y2="72321"/>
                        <a14:foregroundMark x1="52000" y1="75000" x2="52000" y2="75000"/>
                        <a14:foregroundMark x1="74222" y1="73661" x2="74222" y2="73661"/>
                        <a14:foregroundMark x1="77778" y1="73214" x2="77778" y2="73214"/>
                        <a14:foregroundMark x1="80444" y1="74554" x2="80444" y2="74554"/>
                        <a14:foregroundMark x1="86667" y1="74554" x2="86667" y2="74554"/>
                        <a14:foregroundMark x1="52000" y1="12500" x2="52000" y2="12500"/>
                      </a14:backgroundRemoval>
                    </a14:imgEffect>
                  </a14:imgLayer>
                </a14:imgProps>
              </a:ext>
              <a:ext uri="{28A0092B-C50C-407E-A947-70E740481C1C}">
                <a14:useLocalDpi xmlns:a14="http://schemas.microsoft.com/office/drawing/2010/main" val="0"/>
              </a:ext>
            </a:extLst>
          </a:blip>
          <a:stretch>
            <a:fillRect/>
          </a:stretch>
        </p:blipFill>
        <p:spPr>
          <a:xfrm>
            <a:off x="435273" y="323683"/>
            <a:ext cx="926261" cy="922144"/>
          </a:xfrm>
          <a:prstGeom prst="rect">
            <a:avLst/>
          </a:prstGeom>
        </p:spPr>
      </p:pic>
      <p:pic>
        <p:nvPicPr>
          <p:cNvPr id="7" name="Picture 6">
            <a:extLst>
              <a:ext uri="{FF2B5EF4-FFF2-40B4-BE49-F238E27FC236}">
                <a16:creationId xmlns:a16="http://schemas.microsoft.com/office/drawing/2014/main" id="{93F54528-9031-99AB-414F-B4AE9A1E8D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95366" y="323683"/>
            <a:ext cx="1380205" cy="777055"/>
          </a:xfrm>
          <a:prstGeom prst="rect">
            <a:avLst/>
          </a:prstGeom>
        </p:spPr>
      </p:pic>
      <p:sp>
        <p:nvSpPr>
          <p:cNvPr id="8" name="Date Placeholder 7">
            <a:extLst>
              <a:ext uri="{FF2B5EF4-FFF2-40B4-BE49-F238E27FC236}">
                <a16:creationId xmlns:a16="http://schemas.microsoft.com/office/drawing/2014/main" id="{B99CB687-D8E5-A39D-72DA-7BC0B98F43FB}"/>
              </a:ext>
            </a:extLst>
          </p:cNvPr>
          <p:cNvSpPr>
            <a:spLocks noGrp="1"/>
          </p:cNvSpPr>
          <p:nvPr>
            <p:ph type="dt" sz="half" idx="10"/>
          </p:nvPr>
        </p:nvSpPr>
        <p:spPr>
          <a:xfrm>
            <a:off x="838200" y="6356350"/>
            <a:ext cx="2301815" cy="365125"/>
          </a:xfrm>
        </p:spPr>
        <p:txBody>
          <a:bodyPr/>
          <a:lstStyle/>
          <a:p>
            <a:pPr algn="ctr"/>
            <a:r>
              <a:rPr lang="en-US" sz="2000" dirty="0">
                <a:solidFill>
                  <a:schemeClr val="bg1"/>
                </a:solidFill>
              </a:rPr>
              <a:t>4/4/2025</a:t>
            </a:r>
          </a:p>
        </p:txBody>
      </p:sp>
      <p:sp>
        <p:nvSpPr>
          <p:cNvPr id="9" name="Slide Number Placeholder 8">
            <a:extLst>
              <a:ext uri="{FF2B5EF4-FFF2-40B4-BE49-F238E27FC236}">
                <a16:creationId xmlns:a16="http://schemas.microsoft.com/office/drawing/2014/main" id="{9D7C2B07-C6B5-E015-45F5-DB3738C0B472}"/>
              </a:ext>
            </a:extLst>
          </p:cNvPr>
          <p:cNvSpPr>
            <a:spLocks noGrp="1"/>
          </p:cNvSpPr>
          <p:nvPr>
            <p:ph type="sldNum" sz="quarter" idx="12"/>
          </p:nvPr>
        </p:nvSpPr>
        <p:spPr/>
        <p:txBody>
          <a:bodyPr/>
          <a:lstStyle/>
          <a:p>
            <a:fld id="{60A8E374-2977-4823-8073-360F0642C6DD}" type="slidenum">
              <a:rPr lang="en-US" smtClean="0">
                <a:solidFill>
                  <a:schemeClr val="bg1"/>
                </a:solidFill>
              </a:rPr>
              <a:t>14</a:t>
            </a:fld>
            <a:endParaRPr lang="en-US" dirty="0">
              <a:solidFill>
                <a:schemeClr val="bg1"/>
              </a:solidFill>
            </a:endParaRPr>
          </a:p>
        </p:txBody>
      </p:sp>
      <p:sp>
        <p:nvSpPr>
          <p:cNvPr id="14" name="Rectangle 13">
            <a:extLst>
              <a:ext uri="{FF2B5EF4-FFF2-40B4-BE49-F238E27FC236}">
                <a16:creationId xmlns:a16="http://schemas.microsoft.com/office/drawing/2014/main" id="{C1DAB1B5-C866-0F07-1562-DAAE7319FAAB}"/>
              </a:ext>
            </a:extLst>
          </p:cNvPr>
          <p:cNvSpPr/>
          <p:nvPr/>
        </p:nvSpPr>
        <p:spPr>
          <a:xfrm>
            <a:off x="0" y="0"/>
            <a:ext cx="12192000" cy="181155"/>
          </a:xfrm>
          <a:prstGeom prst="rect">
            <a:avLst/>
          </a:prstGeom>
          <a:solidFill>
            <a:srgbClr val="22B294"/>
          </a:solidFill>
          <a:ln>
            <a:solidFill>
              <a:srgbClr val="0570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5" name="Rectangle 14">
            <a:extLst>
              <a:ext uri="{FF2B5EF4-FFF2-40B4-BE49-F238E27FC236}">
                <a16:creationId xmlns:a16="http://schemas.microsoft.com/office/drawing/2014/main" id="{1650A4B0-B873-5E0D-4BDB-B49A7AB6A1D7}"/>
              </a:ext>
            </a:extLst>
          </p:cNvPr>
          <p:cNvSpPr/>
          <p:nvPr/>
        </p:nvSpPr>
        <p:spPr>
          <a:xfrm>
            <a:off x="0" y="266954"/>
            <a:ext cx="12192000" cy="47204"/>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F1D4254-17A6-F2E1-6172-615B5C7D8AE5}"/>
              </a:ext>
            </a:extLst>
          </p:cNvPr>
          <p:cNvSpPr txBox="1"/>
          <p:nvPr/>
        </p:nvSpPr>
        <p:spPr>
          <a:xfrm>
            <a:off x="4098985" y="2432809"/>
            <a:ext cx="3994029" cy="769441"/>
          </a:xfrm>
          <a:prstGeom prst="rect">
            <a:avLst/>
          </a:prstGeom>
          <a:noFill/>
        </p:spPr>
        <p:txBody>
          <a:bodyPr wrap="square" rtlCol="0">
            <a:spAutoFit/>
          </a:bodyPr>
          <a:lstStyle/>
          <a:p>
            <a:pPr algn="ctr"/>
            <a:r>
              <a:rPr lang="en-US" sz="4400" dirty="0">
                <a:solidFill>
                  <a:schemeClr val="accent1"/>
                </a:solidFill>
              </a:rPr>
              <a:t>Thank You !</a:t>
            </a:r>
          </a:p>
        </p:txBody>
      </p:sp>
      <p:sp>
        <p:nvSpPr>
          <p:cNvPr id="4" name="TextBox 3">
            <a:extLst>
              <a:ext uri="{FF2B5EF4-FFF2-40B4-BE49-F238E27FC236}">
                <a16:creationId xmlns:a16="http://schemas.microsoft.com/office/drawing/2014/main" id="{C913D331-EE28-8518-29A0-6BA601ECDD44}"/>
              </a:ext>
            </a:extLst>
          </p:cNvPr>
          <p:cNvSpPr txBox="1"/>
          <p:nvPr/>
        </p:nvSpPr>
        <p:spPr>
          <a:xfrm>
            <a:off x="3046562" y="3429000"/>
            <a:ext cx="6098874" cy="923330"/>
          </a:xfrm>
          <a:prstGeom prst="rect">
            <a:avLst/>
          </a:prstGeom>
          <a:noFill/>
        </p:spPr>
        <p:txBody>
          <a:bodyPr wrap="square">
            <a:spAutoFit/>
          </a:bodyPr>
          <a:lstStyle/>
          <a:p>
            <a:pPr algn="ctr"/>
            <a:r>
              <a:rPr lang="en-US" b="1" dirty="0"/>
              <a:t>Contact Information</a:t>
            </a:r>
            <a:r>
              <a:rPr lang="en-US" dirty="0"/>
              <a:t>: Team leader Mazen Moustafa</a:t>
            </a:r>
          </a:p>
          <a:p>
            <a:pPr marL="285750" indent="-285750" algn="ctr">
              <a:buFont typeface="Arial" panose="020B0604020202020204" pitchFamily="34" charset="0"/>
              <a:buChar char="•"/>
            </a:pPr>
            <a:r>
              <a:rPr lang="en-US" dirty="0"/>
              <a:t>Email : </a:t>
            </a:r>
            <a:r>
              <a:rPr lang="en-US" dirty="0">
                <a:hlinkClick r:id="rId6"/>
              </a:rPr>
              <a:t>mazen110.net@gmai.com</a:t>
            </a:r>
            <a:endParaRPr lang="en-US" dirty="0"/>
          </a:p>
          <a:p>
            <a:pPr marL="285750" indent="-285750" algn="ctr">
              <a:buFont typeface="Arial" panose="020B0604020202020204" pitchFamily="34" charset="0"/>
              <a:buChar char="•"/>
            </a:pPr>
            <a:r>
              <a:rPr lang="en-US" dirty="0"/>
              <a:t>Phone:</a:t>
            </a:r>
            <a:r>
              <a:rPr lang="ar-EG" dirty="0"/>
              <a:t> </a:t>
            </a:r>
            <a:r>
              <a:rPr lang="en-US" dirty="0"/>
              <a:t>+20 155 565 7877</a:t>
            </a:r>
          </a:p>
        </p:txBody>
      </p:sp>
    </p:spTree>
    <p:extLst>
      <p:ext uri="{BB962C8B-B14F-4D97-AF65-F5344CB8AC3E}">
        <p14:creationId xmlns:p14="http://schemas.microsoft.com/office/powerpoint/2010/main" val="35820975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1124</Words>
  <Application>Microsoft Office PowerPoint</Application>
  <PresentationFormat>Widescreen</PresentationFormat>
  <Paragraphs>142</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Narrow</vt:lpstr>
      <vt:lpstr>Arial Unicode MS</vt:lpstr>
      <vt:lpstr>Bitter Medium</vt:lpstr>
      <vt:lpstr>Calibri</vt:lpstr>
      <vt:lpstr>Calibri Light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HardMiner09 _Go</dc:creator>
  <cp:lastModifiedBy>HardMiner09 _Go</cp:lastModifiedBy>
  <cp:revision>4</cp:revision>
  <dcterms:created xsi:type="dcterms:W3CDTF">2025-04-24T21:22:59Z</dcterms:created>
  <dcterms:modified xsi:type="dcterms:W3CDTF">2025-04-27T17:50:05Z</dcterms:modified>
</cp:coreProperties>
</file>